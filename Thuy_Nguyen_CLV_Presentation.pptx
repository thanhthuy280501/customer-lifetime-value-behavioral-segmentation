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100" b="0" i="0" u="none" strike="noStrike">
                <a:solidFill>
                  <a:srgbClr val="0D1B4B"/>
                </a:solidFill>
                <a:latin typeface="Calibri"/>
              </a:defRPr>
            </a:pPr>
            <a:r>
              <a:rPr sz="1100" b="0" i="0" u="none" strike="noStrike">
                <a:solidFill>
                  <a:srgbClr val="0D1B4B"/>
                </a:solidFill>
                <a:latin typeface="Calibri"/>
              </a:rPr>
              <a:t>% of Total Revenue by Segment</a:t>
            </a:r>
          </a:p>
        </c:rich>
      </c:tx>
      <c:layout/>
      <c:overlay val="0"/>
    </c:title>
    <c:autoTitleDeleted val="0"/>
    <c:plotArea>
      <c:layout/>
      <c:barChart>
        <c:barDir val="col"/>
        <c:grouping val="clustered"/>
        <c:varyColors val="0"/>
        <c:ser>
          <c:idx val="0"/>
          <c:order val="0"/>
          <c:tx>
            <c:strRef>
              <c:f>Sheet1!$B$1</c:f>
              <c:strCache>
                <c:ptCount val="1"/>
                <c:pt idx="0">
                  <c:v>% of Revenue</c:v>
                </c:pt>
              </c:strCache>
            </c:strRef>
          </c:tx>
          <c:spPr>
            <a:solidFill>
              <a:srgbClr val="0E7C86"/>
            </a:solidFill>
            <a:effectLst/>
          </c:spPr>
          <c:invertIfNegative val="0"/>
          <c:dLbls>
            <c:numFmt formatCode="#,##0" sourceLinked="0"/>
            <c:txPr>
              <a:bodyPr/>
              <a:lstStyle/>
              <a:p>
                <a:pPr>
                  <a:defRPr b="0" i="0" strike="noStrike" sz="900" u="none">
                    <a:solidFill>
                      <a:srgbClr val="0D1B4B"/>
                    </a:solidFill>
                    <a:latin typeface="Arial"/>
                  </a:defRPr>
                </a:pPr>
              </a:p>
            </c:txPr>
            <c:showLegendKey val="0"/>
            <c:showVal val="1"/>
            <c:showCatName val="0"/>
            <c:showSerName val="0"/>
            <c:showPercent val="0"/>
            <c:showBubbleSize val="0"/>
            <c:showLeaderLines val="0"/>
          </c:dLbls>
          <c:dPt>
            <c:idx val="0"/>
            <c:invertIfNegative val="0"/>
            <c:bubble3D val="0"/>
            <c:spPr>
              <a:solidFill>
                <a:srgbClr val="0E7C86"/>
              </a:solidFill>
              <a:effectLst/>
            </c:spPr>
          </c:dPt>
          <c:dPt>
            <c:idx val="1"/>
            <c:invertIfNegative val="0"/>
            <c:bubble3D val="0"/>
            <c:spPr>
              <a:solidFill>
                <a:srgbClr val="14A5B3"/>
              </a:solidFill>
              <a:effectLst/>
            </c:spPr>
          </c:dPt>
          <c:dPt>
            <c:idx val="2"/>
            <c:invertIfNegative val="0"/>
            <c:bubble3D val="0"/>
            <c:spPr>
              <a:solidFill>
                <a:srgbClr val="5DCFDA"/>
              </a:solidFill>
              <a:effectLst/>
            </c:spPr>
          </c:dPt>
          <c:dPt>
            <c:idx val="3"/>
            <c:invertIfNegative val="0"/>
            <c:bubble3D val="0"/>
            <c:spPr>
              <a:solidFill>
                <a:srgbClr val="A8E6EC"/>
              </a:solidFill>
              <a:effectLst/>
            </c:spPr>
          </c:dPt>
          <c:dPt>
            <c:idx val="4"/>
            <c:invertIfNegative val="0"/>
            <c:bubble3D val="0"/>
            <c:spPr>
              <a:solidFill>
                <a:srgbClr val="D1F4F8"/>
              </a:solidFill>
              <a:effectLst/>
            </c:spPr>
          </c:dPt>
          <c:cat>
            <c:multiLvlStrRef>
              <c:f>Sheet1!$A$2:$A$6</c:f>
              <c:multiLvlStrCache>
                <c:ptCount val="5"/>
                <c:lvl>
                  <c:pt idx="0">
                    <c:v>High Value</c:v>
                  </c:pt>
                  <c:pt idx="1">
                    <c:v>Low Value</c:v>
                  </c:pt>
                  <c:pt idx="2">
                    <c:v>Frequent
Low Spend</c:v>
                  </c:pt>
                  <c:pt idx="3">
                    <c:v>One-time
Buyer</c:v>
                  </c:pt>
                  <c:pt idx="4">
                    <c:v>Risky</c:v>
                  </c:pt>
                </c:lvl>
              </c:multiLvlStrCache>
            </c:multiLvlStrRef>
          </c:cat>
          <c:val>
            <c:numRef>
              <c:f>Sheet1!$B$2:$B$6</c:f>
              <c:numCache>
                <c:formatCode>General</c:formatCode>
                <c:ptCount val="5"/>
                <c:pt idx="0">
                  <c:v>77.1</c:v>
                </c:pt>
                <c:pt idx="1">
                  <c:v>16.4</c:v>
                </c:pt>
                <c:pt idx="2">
                  <c:v>3.7</c:v>
                </c:pt>
                <c:pt idx="3">
                  <c:v>2.5</c:v>
                </c:pt>
                <c:pt idx="4">
                  <c:v>0.6</c:v>
                </c:pt>
              </c:numCache>
            </c:numRef>
          </c:val>
        </c:ser>
        <c:dLbls>
          <c:numFmt formatCode="#,##0" sourceLinked="0"/>
          <c:txPr>
            <a:bodyPr/>
            <a:lstStyle/>
            <a:p>
              <a:pPr>
                <a:defRPr b="0" i="0" strike="noStrike" sz="900" u="none">
                  <a:solidFill>
                    <a:srgbClr val="0D1B4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4748B"/>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100" b="0" i="0" u="none" strike="noStrike">
                <a:solidFill>
                  <a:srgbClr val="0D1B4B"/>
                </a:solidFill>
                <a:latin typeface="Calibri"/>
              </a:defRPr>
            </a:pPr>
            <a:r>
              <a:rPr sz="1100" b="0" i="0" u="none" strike="noStrike">
                <a:solidFill>
                  <a:srgbClr val="0D1B4B"/>
                </a:solidFill>
                <a:latin typeface="Calibri"/>
              </a:rPr>
              <a:t>Monthly Order Trend by Segment</a:t>
            </a:r>
          </a:p>
        </c:rich>
      </c:tx>
      <c:layout/>
      <c:overlay val="0"/>
    </c:title>
    <c:autoTitleDeleted val="0"/>
    <c:plotArea>
      <c:layout/>
      <c:lineChart>
        <c:varyColors val="0"/>
        <c:ser>
          <c:idx val="0"/>
          <c:order val="0"/>
          <c:tx>
            <c:strRef>
              <c:f>Sheet1!$B$1</c:f>
              <c:strCache>
                <c:ptCount val="1"/>
                <c:pt idx="0">
                  <c:v>High Value</c:v>
                </c:pt>
              </c:strCache>
            </c:strRef>
          </c:tx>
          <c:spPr>
            <a:solidFill>
              <a:srgbClr val="0E7C86"/>
            </a:solidFill>
            <a:ln w="25400" cap="flat">
              <a:solidFill>
                <a:srgbClr val="0E7C8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E7C86"/>
              </a:solidFill>
              <a:ln w="9525" cap="flat">
                <a:solidFill>
                  <a:srgbClr val="0E7C86"/>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120</c:v>
                </c:pt>
                <c:pt idx="1">
                  <c:v>100</c:v>
                </c:pt>
                <c:pt idx="2">
                  <c:v>130</c:v>
                </c:pt>
                <c:pt idx="3">
                  <c:v>145</c:v>
                </c:pt>
                <c:pt idx="4">
                  <c:v>160</c:v>
                </c:pt>
                <c:pt idx="5">
                  <c:v>155</c:v>
                </c:pt>
                <c:pt idx="6">
                  <c:v>170</c:v>
                </c:pt>
                <c:pt idx="7">
                  <c:v>180</c:v>
                </c:pt>
                <c:pt idx="8">
                  <c:v>195</c:v>
                </c:pt>
                <c:pt idx="9">
                  <c:v>220</c:v>
                </c:pt>
                <c:pt idx="10">
                  <c:v>310</c:v>
                </c:pt>
                <c:pt idx="11">
                  <c:v>140</c:v>
                </c:pt>
              </c:numCache>
            </c:numRef>
          </c:val>
          <c:smooth val="1"/>
        </c:ser>
        <c:ser>
          <c:idx val="1"/>
          <c:order val="1"/>
          <c:tx>
            <c:strRef>
              <c:f>Sheet1!$C$1</c:f>
              <c:strCache>
                <c:ptCount val="1"/>
                <c:pt idx="0">
                  <c:v>One-time Buyer</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59E0B"/>
              </a:solidFill>
              <a:ln w="9525" cap="flat">
                <a:solidFill>
                  <a:srgbClr val="F59E0B"/>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Sheet1!$C$2:$C$13</c:f>
              <c:numCache>
                <c:formatCode>General</c:formatCode>
                <c:ptCount val="12"/>
                <c:pt idx="0">
                  <c:v>60</c:v>
                </c:pt>
                <c:pt idx="1">
                  <c:v>50</c:v>
                </c:pt>
                <c:pt idx="2">
                  <c:v>65</c:v>
                </c:pt>
                <c:pt idx="3">
                  <c:v>70</c:v>
                </c:pt>
                <c:pt idx="4">
                  <c:v>75</c:v>
                </c:pt>
                <c:pt idx="5">
                  <c:v>72</c:v>
                </c:pt>
                <c:pt idx="6">
                  <c:v>78</c:v>
                </c:pt>
                <c:pt idx="7">
                  <c:v>85</c:v>
                </c:pt>
                <c:pt idx="8">
                  <c:v>90</c:v>
                </c:pt>
                <c:pt idx="9">
                  <c:v>100</c:v>
                </c:pt>
                <c:pt idx="10">
                  <c:v>155</c:v>
                </c:pt>
                <c:pt idx="11">
                  <c:v>70</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5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5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solidFill>
                <a:srgbClr val="64748B"/>
              </a:solidFil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7C86"/>
          </a:solidFill>
          <a:ln w="12700">
            <a:solidFill>
              <a:srgbClr val="0E7C86"/>
            </a:solidFill>
            <a:prstDash val="solid"/>
          </a:ln>
        </p:spPr>
      </p:sp>
      <p:sp>
        <p:nvSpPr>
          <p:cNvPr id="3" name="Text 1"/>
          <p:cNvSpPr/>
          <p:nvPr/>
        </p:nvSpPr>
        <p:spPr>
          <a:xfrm>
            <a:off x="7772400" y="109728"/>
            <a:ext cx="128016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01 / 04</a:t>
            </a:r>
            <a:endParaRPr lang="en-US" sz="900" dirty="0"/>
          </a:p>
        </p:txBody>
      </p:sp>
      <p:sp>
        <p:nvSpPr>
          <p:cNvPr id="4" name="Shape 2"/>
          <p:cNvSpPr/>
          <p:nvPr/>
        </p:nvSpPr>
        <p:spPr>
          <a:xfrm>
            <a:off x="0" y="4983480"/>
            <a:ext cx="9144000" cy="164592"/>
          </a:xfrm>
          <a:prstGeom prst="rect">
            <a:avLst/>
          </a:prstGeom>
          <a:solidFill>
            <a:srgbClr val="0D1B4B"/>
          </a:solidFill>
          <a:ln w="12700">
            <a:solidFill>
              <a:srgbClr val="0D1B4B"/>
            </a:solidFill>
            <a:prstDash val="solid"/>
          </a:ln>
        </p:spPr>
      </p:sp>
      <p:sp>
        <p:nvSpPr>
          <p:cNvPr id="5" name="Text 3"/>
          <p:cNvSpPr/>
          <p:nvPr/>
        </p:nvSpPr>
        <p:spPr>
          <a:xfrm>
            <a:off x="274320" y="4983480"/>
            <a:ext cx="8595360" cy="164592"/>
          </a:xfrm>
          <a:prstGeom prst="rect">
            <a:avLst/>
          </a:prstGeom>
          <a:noFill/>
          <a:ln/>
        </p:spPr>
        <p:txBody>
          <a:bodyPr wrap="square" rtlCol="0" anchor="ctr"/>
          <a:lstStyle/>
          <a:p>
            <a:pPr algn="l" indent="0" marL="0">
              <a:buNone/>
            </a:pPr>
            <a:r>
              <a:rPr lang="en-US" sz="750" dirty="0">
                <a:solidFill>
                  <a:srgbClr val="AABBCC"/>
                </a:solidFill>
                <a:latin typeface="Calibri" pitchFamily="34" charset="0"/>
                <a:ea typeface="Calibri" pitchFamily="34" charset="-122"/>
                <a:cs typeface="Calibri" pitchFamily="34" charset="-120"/>
              </a:rPr>
              <a:t>Thuy Nguyen  ·  Online Retail CLV &amp; Segmentation Analysis  ·  University of Michigan-Flint</a:t>
            </a:r>
            <a:endParaRPr lang="en-US" sz="750" dirty="0"/>
          </a:p>
        </p:txBody>
      </p:sp>
      <p:sp>
        <p:nvSpPr>
          <p:cNvPr id="6" name="Shape 4"/>
          <p:cNvSpPr/>
          <p:nvPr/>
        </p:nvSpPr>
        <p:spPr>
          <a:xfrm>
            <a:off x="0" y="73152"/>
            <a:ext cx="3200400" cy="4910328"/>
          </a:xfrm>
          <a:prstGeom prst="rect">
            <a:avLst/>
          </a:prstGeom>
          <a:solidFill>
            <a:srgbClr val="0D1B4B"/>
          </a:solidFill>
          <a:ln w="12700">
            <a:solidFill>
              <a:srgbClr val="0D1B4B"/>
            </a:solidFill>
            <a:prstDash val="solid"/>
          </a:ln>
        </p:spPr>
      </p:sp>
      <p:sp>
        <p:nvSpPr>
          <p:cNvPr id="7" name="Text 5"/>
          <p:cNvSpPr/>
          <p:nvPr/>
        </p:nvSpPr>
        <p:spPr>
          <a:xfrm>
            <a:off x="182880" y="274320"/>
            <a:ext cx="2834640" cy="822960"/>
          </a:xfrm>
          <a:prstGeom prst="rect">
            <a:avLst/>
          </a:prstGeom>
          <a:noFill/>
          <a:ln/>
        </p:spPr>
        <p:txBody>
          <a:bodyPr wrap="square"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Online Retail</a:t>
            </a:r>
            <a:endParaRPr lang="en-US" sz="1800" dirty="0"/>
          </a:p>
          <a:p>
            <a:pPr indent="0" marL="0">
              <a:buNone/>
            </a:pPr>
            <a:r>
              <a:rPr lang="en-US" sz="1800" b="1" dirty="0">
                <a:solidFill>
                  <a:srgbClr val="FFFFFF"/>
                </a:solidFill>
                <a:latin typeface="Calibri" pitchFamily="34" charset="0"/>
                <a:ea typeface="Calibri" pitchFamily="34" charset="-122"/>
                <a:cs typeface="Calibri" pitchFamily="34" charset="-120"/>
              </a:rPr>
              <a:t>CLV &amp; Segmentation</a:t>
            </a:r>
            <a:endParaRPr lang="en-US" sz="1800" dirty="0"/>
          </a:p>
        </p:txBody>
      </p:sp>
      <p:sp>
        <p:nvSpPr>
          <p:cNvPr id="8" name="Shape 6"/>
          <p:cNvSpPr/>
          <p:nvPr/>
        </p:nvSpPr>
        <p:spPr>
          <a:xfrm>
            <a:off x="182880" y="1170432"/>
            <a:ext cx="365760" cy="45720"/>
          </a:xfrm>
          <a:prstGeom prst="rect">
            <a:avLst/>
          </a:prstGeom>
          <a:solidFill>
            <a:srgbClr val="14A5B3"/>
          </a:solidFill>
          <a:ln w="12700">
            <a:solidFill>
              <a:srgbClr val="14A5B3"/>
            </a:solidFill>
            <a:prstDash val="solid"/>
          </a:ln>
        </p:spPr>
      </p:sp>
      <p:sp>
        <p:nvSpPr>
          <p:cNvPr id="9" name="Text 7"/>
          <p:cNvSpPr/>
          <p:nvPr/>
        </p:nvSpPr>
        <p:spPr>
          <a:xfrm>
            <a:off x="182880" y="1298448"/>
            <a:ext cx="2834640" cy="201168"/>
          </a:xfrm>
          <a:prstGeom prst="rect">
            <a:avLst/>
          </a:prstGeom>
          <a:noFill/>
          <a:ln/>
        </p:spPr>
        <p:txBody>
          <a:bodyPr wrap="square" rtlCol="0" anchor="ctr"/>
          <a:lstStyle/>
          <a:p>
            <a:pPr indent="0" marL="0">
              <a:buNone/>
            </a:pPr>
            <a:r>
              <a:rPr lang="en-US" sz="1100" b="1" dirty="0">
                <a:solidFill>
                  <a:srgbClr val="14A5B3"/>
                </a:solidFill>
                <a:latin typeface="Calibri" pitchFamily="34" charset="0"/>
                <a:ea typeface="Calibri" pitchFamily="34" charset="-122"/>
                <a:cs typeface="Calibri" pitchFamily="34" charset="-120"/>
              </a:rPr>
              <a:t>Dataset</a:t>
            </a:r>
            <a:endParaRPr lang="en-US" sz="1100" dirty="0"/>
          </a:p>
        </p:txBody>
      </p:sp>
      <p:sp>
        <p:nvSpPr>
          <p:cNvPr id="10" name="Text 8"/>
          <p:cNvSpPr/>
          <p:nvPr/>
        </p:nvSpPr>
        <p:spPr>
          <a:xfrm>
            <a:off x="182880" y="1536192"/>
            <a:ext cx="2834640" cy="960120"/>
          </a:xfrm>
          <a:prstGeom prst="rect">
            <a:avLst/>
          </a:prstGeom>
          <a:noFill/>
          <a:ln/>
        </p:spPr>
        <p:txBody>
          <a:bodyPr wrap="square" rtlCol="0" anchor="ctr"/>
          <a:lstStyle/>
          <a:p>
            <a:pPr indent="0" marL="0">
              <a:buNone/>
            </a:pPr>
            <a:r>
              <a:rPr lang="en-US" sz="1000" b="1" dirty="0">
                <a:solidFill>
                  <a:srgbClr val="C8D8E8"/>
                </a:solidFill>
                <a:latin typeface="Calibri" pitchFamily="34" charset="0"/>
                <a:ea typeface="Calibri" pitchFamily="34" charset="-122"/>
                <a:cs typeface="Calibri" pitchFamily="34" charset="-120"/>
              </a:rPr>
              <a:t>Source: </a:t>
            </a:r>
            <a:pPr indent="0" marL="0">
              <a:buNone/>
            </a:pPr>
            <a:r>
              <a:rPr lang="en-US" sz="1000" dirty="0">
                <a:solidFill>
                  <a:srgbClr val="C8D8E8"/>
                </a:solidFill>
                <a:latin typeface="Calibri" pitchFamily="34" charset="0"/>
                <a:ea typeface="Calibri" pitchFamily="34" charset="-122"/>
                <a:cs typeface="Calibri" pitchFamily="34" charset="-120"/>
              </a:rPr>
              <a:t>Online Retail II (Kaggle)
</a:t>
            </a:r>
            <a:pPr indent="0" marL="0">
              <a:buNone/>
            </a:pPr>
            <a:r>
              <a:rPr lang="en-US" sz="1000" b="1" dirty="0">
                <a:solidFill>
                  <a:srgbClr val="C8D8E8"/>
                </a:solidFill>
                <a:latin typeface="Calibri" pitchFamily="34" charset="0"/>
                <a:ea typeface="Calibri" pitchFamily="34" charset="-122"/>
                <a:cs typeface="Calibri" pitchFamily="34" charset="-120"/>
              </a:rPr>
              <a:t>Size: </a:t>
            </a:r>
            <a:pPr indent="0" marL="0">
              <a:buNone/>
            </a:pPr>
            <a:r>
              <a:rPr lang="en-US" sz="1000" dirty="0">
                <a:solidFill>
                  <a:srgbClr val="C8D8E8"/>
                </a:solidFill>
                <a:latin typeface="Calibri" pitchFamily="34" charset="0"/>
                <a:ea typeface="Calibri" pitchFamily="34" charset="-122"/>
                <a:cs typeface="Calibri" pitchFamily="34" charset="-120"/>
              </a:rPr>
              <a:t>1,067,371 rows
</a:t>
            </a:r>
            <a:pPr indent="0" marL="0">
              <a:buNone/>
            </a:pPr>
            <a:r>
              <a:rPr lang="en-US" sz="1000" b="1" dirty="0">
                <a:solidFill>
                  <a:srgbClr val="C8D8E8"/>
                </a:solidFill>
                <a:latin typeface="Calibri" pitchFamily="34" charset="0"/>
                <a:ea typeface="Calibri" pitchFamily="34" charset="-122"/>
                <a:cs typeface="Calibri" pitchFamily="34" charset="-120"/>
              </a:rPr>
              <a:t>Period: </a:t>
            </a:r>
            <a:pPr indent="0" marL="0">
              <a:buNone/>
            </a:pPr>
            <a:r>
              <a:rPr lang="en-US" sz="1000" dirty="0">
                <a:solidFill>
                  <a:srgbClr val="C8D8E8"/>
                </a:solidFill>
                <a:latin typeface="Calibri" pitchFamily="34" charset="0"/>
                <a:ea typeface="Calibri" pitchFamily="34" charset="-122"/>
                <a:cs typeface="Calibri" pitchFamily="34" charset="-120"/>
              </a:rPr>
              <a:t>Dec 2009 – Dec 2011
</a:t>
            </a:r>
            <a:pPr indent="0" marL="0">
              <a:buNone/>
            </a:pPr>
            <a:r>
              <a:rPr lang="en-US" sz="1000" b="1" dirty="0">
                <a:solidFill>
                  <a:srgbClr val="C8D8E8"/>
                </a:solidFill>
                <a:latin typeface="Calibri" pitchFamily="34" charset="0"/>
                <a:ea typeface="Calibri" pitchFamily="34" charset="-122"/>
                <a:cs typeface="Calibri" pitchFamily="34" charset="-120"/>
              </a:rPr>
              <a:t>Grain: </a:t>
            </a:r>
            <a:pPr indent="0" marL="0">
              <a:buNone/>
            </a:pPr>
            <a:r>
              <a:rPr lang="en-US" sz="1000" dirty="0">
                <a:solidFill>
                  <a:srgbClr val="C8D8E8"/>
                </a:solidFill>
                <a:latin typeface="Calibri" pitchFamily="34" charset="0"/>
                <a:ea typeface="Calibri" pitchFamily="34" charset="-122"/>
                <a:cs typeface="Calibri" pitchFamily="34" charset="-120"/>
              </a:rPr>
              <a:t>1 row = 1 line item per invoice</a:t>
            </a:r>
            <a:endParaRPr lang="en-US" sz="1000" dirty="0"/>
          </a:p>
        </p:txBody>
      </p:sp>
      <p:sp>
        <p:nvSpPr>
          <p:cNvPr id="11" name="Text 9"/>
          <p:cNvSpPr/>
          <p:nvPr/>
        </p:nvSpPr>
        <p:spPr>
          <a:xfrm>
            <a:off x="182880" y="2606040"/>
            <a:ext cx="2834640" cy="201168"/>
          </a:xfrm>
          <a:prstGeom prst="rect">
            <a:avLst/>
          </a:prstGeom>
          <a:noFill/>
          <a:ln/>
        </p:spPr>
        <p:txBody>
          <a:bodyPr wrap="square" rtlCol="0" anchor="ctr"/>
          <a:lstStyle/>
          <a:p>
            <a:pPr indent="0" marL="0">
              <a:buNone/>
            </a:pPr>
            <a:r>
              <a:rPr lang="en-US" sz="1100" b="1" dirty="0">
                <a:solidFill>
                  <a:srgbClr val="14A5B3"/>
                </a:solidFill>
                <a:latin typeface="Calibri" pitchFamily="34" charset="0"/>
                <a:ea typeface="Calibri" pitchFamily="34" charset="-122"/>
                <a:cs typeface="Calibri" pitchFamily="34" charset="-120"/>
              </a:rPr>
              <a:t>Business Questions</a:t>
            </a:r>
            <a:endParaRPr lang="en-US" sz="1100" dirty="0"/>
          </a:p>
        </p:txBody>
      </p:sp>
      <p:sp>
        <p:nvSpPr>
          <p:cNvPr id="12" name="Text 10"/>
          <p:cNvSpPr/>
          <p:nvPr/>
        </p:nvSpPr>
        <p:spPr>
          <a:xfrm>
            <a:off x="182880" y="2834640"/>
            <a:ext cx="2834640" cy="1005840"/>
          </a:xfrm>
          <a:prstGeom prst="rect">
            <a:avLst/>
          </a:prstGeom>
          <a:noFill/>
          <a:ln/>
        </p:spPr>
        <p:txBody>
          <a:bodyPr wrap="square"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① </a:t>
            </a:r>
            <a:pPr indent="0" marL="0">
              <a:buNone/>
            </a:pPr>
            <a:r>
              <a:rPr lang="en-US" sz="1000" dirty="0">
                <a:solidFill>
                  <a:srgbClr val="C8D8E8"/>
                </a:solidFill>
                <a:latin typeface="Calibri" pitchFamily="34" charset="0"/>
                <a:ea typeface="Calibri" pitchFamily="34" charset="-122"/>
                <a:cs typeface="Calibri" pitchFamily="34" charset="-120"/>
              </a:rPr>
              <a:t>Which segments drive the most revenue?
</a:t>
            </a:r>
            <a:endParaRPr lang="en-US" sz="1000" dirty="0"/>
          </a:p>
          <a:p>
            <a:pPr indent="0" marL="0">
              <a:buNone/>
            </a:pPr>
            <a:r>
              <a:rPr lang="en-US" sz="1000" b="1" dirty="0">
                <a:solidFill>
                  <a:srgbClr val="F59E0B"/>
                </a:solidFill>
                <a:latin typeface="Calibri" pitchFamily="34" charset="0"/>
                <a:ea typeface="Calibri" pitchFamily="34" charset="-122"/>
                <a:cs typeface="Calibri" pitchFamily="34" charset="-120"/>
              </a:rPr>
              <a:t>② </a:t>
            </a:r>
            <a:pPr indent="0" marL="0">
              <a:buNone/>
            </a:pPr>
            <a:r>
              <a:rPr lang="en-US" sz="1000" dirty="0">
                <a:solidFill>
                  <a:srgbClr val="C8D8E8"/>
                </a:solidFill>
                <a:latin typeface="Calibri" pitchFamily="34" charset="0"/>
                <a:ea typeface="Calibri" pitchFamily="34" charset="-122"/>
                <a:cs typeface="Calibri" pitchFamily="34" charset="-120"/>
              </a:rPr>
              <a:t>When do customers stop coming back?
</a:t>
            </a:r>
            <a:endParaRPr lang="en-US" sz="1000" dirty="0"/>
          </a:p>
          <a:p>
            <a:pPr indent="0" marL="0">
              <a:buNone/>
            </a:pPr>
            <a:r>
              <a:rPr lang="en-US" sz="1000" b="1" dirty="0">
                <a:solidFill>
                  <a:srgbClr val="F59E0B"/>
                </a:solidFill>
                <a:latin typeface="Calibri" pitchFamily="34" charset="0"/>
                <a:ea typeface="Calibri" pitchFamily="34" charset="-122"/>
                <a:cs typeface="Calibri" pitchFamily="34" charset="-120"/>
              </a:rPr>
              <a:t>③ </a:t>
            </a:r>
            <a:pPr indent="0" marL="0">
              <a:buNone/>
            </a:pPr>
            <a:r>
              <a:rPr lang="en-US" sz="1000" dirty="0">
                <a:solidFill>
                  <a:srgbClr val="C8D8E8"/>
                </a:solidFill>
                <a:latin typeface="Calibri" pitchFamily="34" charset="0"/>
                <a:ea typeface="Calibri" pitchFamily="34" charset="-122"/>
                <a:cs typeface="Calibri" pitchFamily="34" charset="-120"/>
              </a:rPr>
              <a:t>Which products fuel cross-selling?</a:t>
            </a:r>
            <a:endParaRPr lang="en-US" sz="1000" dirty="0"/>
          </a:p>
        </p:txBody>
      </p:sp>
      <p:sp>
        <p:nvSpPr>
          <p:cNvPr id="13" name="Text 11"/>
          <p:cNvSpPr/>
          <p:nvPr/>
        </p:nvSpPr>
        <p:spPr>
          <a:xfrm>
            <a:off x="182880" y="3977640"/>
            <a:ext cx="2834640" cy="201168"/>
          </a:xfrm>
          <a:prstGeom prst="rect">
            <a:avLst/>
          </a:prstGeom>
          <a:noFill/>
          <a:ln/>
        </p:spPr>
        <p:txBody>
          <a:bodyPr wrap="square" rtlCol="0" anchor="ctr"/>
          <a:lstStyle/>
          <a:p>
            <a:pPr indent="0" marL="0">
              <a:buNone/>
            </a:pPr>
            <a:r>
              <a:rPr lang="en-US" sz="850" i="1" dirty="0">
                <a:solidFill>
                  <a:srgbClr val="7A9FBB"/>
                </a:solidFill>
                <a:latin typeface="Calibri" pitchFamily="34" charset="0"/>
                <a:ea typeface="Calibri" pitchFamily="34" charset="-122"/>
                <a:cs typeface="Calibri" pitchFamily="34" charset="-120"/>
              </a:rPr>
              <a:t>Python  ·  Pandas  ·  Seaborn  ·  Matplotlib</a:t>
            </a:r>
            <a:endParaRPr lang="en-US" sz="850" dirty="0"/>
          </a:p>
        </p:txBody>
      </p:sp>
      <p:sp>
        <p:nvSpPr>
          <p:cNvPr id="14" name="Text 12"/>
          <p:cNvSpPr/>
          <p:nvPr/>
        </p:nvSpPr>
        <p:spPr>
          <a:xfrm>
            <a:off x="3383280" y="182880"/>
            <a:ext cx="5577840" cy="457200"/>
          </a:xfrm>
          <a:prstGeom prst="rect">
            <a:avLst/>
          </a:prstGeom>
          <a:noFill/>
          <a:ln/>
        </p:spPr>
        <p:txBody>
          <a:bodyPr wrap="square" rtlCol="0" anchor="ctr"/>
          <a:lstStyle/>
          <a:p>
            <a:pPr indent="0" marL="0">
              <a:buNone/>
            </a:pPr>
            <a:r>
              <a:rPr lang="en-US" sz="2000" b="1" dirty="0">
                <a:solidFill>
                  <a:srgbClr val="0D1B4B"/>
                </a:solidFill>
                <a:latin typeface="Calibri" pitchFamily="34" charset="0"/>
                <a:ea typeface="Calibri" pitchFamily="34" charset="-122"/>
                <a:cs typeface="Calibri" pitchFamily="34" charset="-120"/>
              </a:rPr>
              <a:t>What the Data Revealed After Cleaning</a:t>
            </a:r>
            <a:endParaRPr lang="en-US" sz="2000" dirty="0"/>
          </a:p>
        </p:txBody>
      </p:sp>
      <p:sp>
        <p:nvSpPr>
          <p:cNvPr id="15" name="Text 13"/>
          <p:cNvSpPr/>
          <p:nvPr/>
        </p:nvSpPr>
        <p:spPr>
          <a:xfrm>
            <a:off x="3383280" y="658368"/>
            <a:ext cx="5577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5 anomaly types identified, documented, and resolved before any analysis began.</a:t>
            </a:r>
            <a:endParaRPr lang="en-US" sz="1100" dirty="0"/>
          </a:p>
        </p:txBody>
      </p:sp>
      <p:sp>
        <p:nvSpPr>
          <p:cNvPr id="16" name="Shape 14"/>
          <p:cNvSpPr/>
          <p:nvPr/>
        </p:nvSpPr>
        <p:spPr>
          <a:xfrm>
            <a:off x="3383280" y="1005840"/>
            <a:ext cx="2651760" cy="10058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7" name="Shape 15"/>
          <p:cNvSpPr/>
          <p:nvPr/>
        </p:nvSpPr>
        <p:spPr>
          <a:xfrm>
            <a:off x="3383280" y="1005840"/>
            <a:ext cx="2651760" cy="64008"/>
          </a:xfrm>
          <a:prstGeom prst="rect">
            <a:avLst/>
          </a:prstGeom>
          <a:solidFill>
            <a:srgbClr val="0E7C86"/>
          </a:solidFill>
          <a:ln w="12700">
            <a:solidFill>
              <a:srgbClr val="0E7C86"/>
            </a:solidFill>
            <a:prstDash val="solid"/>
          </a:ln>
        </p:spPr>
      </p:sp>
      <p:sp>
        <p:nvSpPr>
          <p:cNvPr id="18" name="Text 16"/>
          <p:cNvSpPr/>
          <p:nvPr/>
        </p:nvSpPr>
        <p:spPr>
          <a:xfrm>
            <a:off x="3383280" y="1143000"/>
            <a:ext cx="2651760" cy="502920"/>
          </a:xfrm>
          <a:prstGeom prst="rect">
            <a:avLst/>
          </a:prstGeom>
          <a:noFill/>
          <a:ln/>
        </p:spPr>
        <p:txBody>
          <a:bodyPr wrap="square" lIns="0" tIns="0" rIns="0" bIns="0" rtlCol="0" anchor="ctr"/>
          <a:lstStyle/>
          <a:p>
            <a:pPr algn="ctr" indent="0" marL="0">
              <a:buNone/>
            </a:pPr>
            <a:r>
              <a:rPr lang="en-US" sz="2800" b="1" dirty="0">
                <a:solidFill>
                  <a:srgbClr val="0D1B4B"/>
                </a:solidFill>
                <a:latin typeface="Calibri" pitchFamily="34" charset="0"/>
                <a:ea typeface="Calibri" pitchFamily="34" charset="-122"/>
                <a:cs typeface="Calibri" pitchFamily="34" charset="-120"/>
              </a:rPr>
              <a:t>3,464</a:t>
            </a:r>
            <a:endParaRPr lang="en-US" sz="2800" dirty="0"/>
          </a:p>
        </p:txBody>
      </p:sp>
      <p:sp>
        <p:nvSpPr>
          <p:cNvPr id="19" name="Text 17"/>
          <p:cNvSpPr/>
          <p:nvPr/>
        </p:nvSpPr>
        <p:spPr>
          <a:xfrm>
            <a:off x="3383280" y="1627632"/>
            <a:ext cx="2651760" cy="292608"/>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anomalous rows removed</a:t>
            </a:r>
            <a:endParaRPr lang="en-US" sz="1000" dirty="0"/>
          </a:p>
        </p:txBody>
      </p:sp>
      <p:sp>
        <p:nvSpPr>
          <p:cNvPr id="20" name="Shape 18"/>
          <p:cNvSpPr/>
          <p:nvPr/>
        </p:nvSpPr>
        <p:spPr>
          <a:xfrm>
            <a:off x="6217920" y="1005840"/>
            <a:ext cx="2651760" cy="10058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1" name="Shape 19"/>
          <p:cNvSpPr/>
          <p:nvPr/>
        </p:nvSpPr>
        <p:spPr>
          <a:xfrm>
            <a:off x="6217920" y="1005840"/>
            <a:ext cx="2651760" cy="64008"/>
          </a:xfrm>
          <a:prstGeom prst="rect">
            <a:avLst/>
          </a:prstGeom>
          <a:solidFill>
            <a:srgbClr val="F59E0B"/>
          </a:solidFill>
          <a:ln w="12700">
            <a:solidFill>
              <a:srgbClr val="F59E0B"/>
            </a:solidFill>
            <a:prstDash val="solid"/>
          </a:ln>
        </p:spPr>
      </p:sp>
      <p:sp>
        <p:nvSpPr>
          <p:cNvPr id="22" name="Text 20"/>
          <p:cNvSpPr/>
          <p:nvPr/>
        </p:nvSpPr>
        <p:spPr>
          <a:xfrm>
            <a:off x="6217920" y="1143000"/>
            <a:ext cx="2651760" cy="502920"/>
          </a:xfrm>
          <a:prstGeom prst="rect">
            <a:avLst/>
          </a:prstGeom>
          <a:noFill/>
          <a:ln/>
        </p:spPr>
        <p:txBody>
          <a:bodyPr wrap="square" lIns="0" tIns="0" rIns="0" bIns="0" rtlCol="0" anchor="ctr"/>
          <a:lstStyle/>
          <a:p>
            <a:pPr algn="ctr" indent="0" marL="0">
              <a:buNone/>
            </a:pPr>
            <a:r>
              <a:rPr lang="en-US" sz="2800" b="1" dirty="0">
                <a:solidFill>
                  <a:srgbClr val="0D1B4B"/>
                </a:solidFill>
                <a:latin typeface="Calibri" pitchFamily="34" charset="0"/>
                <a:ea typeface="Calibri" pitchFamily="34" charset="-122"/>
                <a:cs typeface="Calibri" pitchFamily="34" charset="-120"/>
              </a:rPr>
              <a:t>34,335</a:t>
            </a:r>
            <a:endParaRPr lang="en-US" sz="2800" dirty="0"/>
          </a:p>
        </p:txBody>
      </p:sp>
      <p:sp>
        <p:nvSpPr>
          <p:cNvPr id="23" name="Text 21"/>
          <p:cNvSpPr/>
          <p:nvPr/>
        </p:nvSpPr>
        <p:spPr>
          <a:xfrm>
            <a:off x="6217920" y="1627632"/>
            <a:ext cx="2651760" cy="292608"/>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exact duplicates removed</a:t>
            </a:r>
            <a:endParaRPr lang="en-US" sz="1000" dirty="0"/>
          </a:p>
        </p:txBody>
      </p:sp>
      <p:sp>
        <p:nvSpPr>
          <p:cNvPr id="24" name="Shape 22"/>
          <p:cNvSpPr/>
          <p:nvPr/>
        </p:nvSpPr>
        <p:spPr>
          <a:xfrm>
            <a:off x="3383280" y="2194560"/>
            <a:ext cx="2651760" cy="10058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5" name="Shape 23"/>
          <p:cNvSpPr/>
          <p:nvPr/>
        </p:nvSpPr>
        <p:spPr>
          <a:xfrm>
            <a:off x="3383280" y="2194560"/>
            <a:ext cx="2651760" cy="64008"/>
          </a:xfrm>
          <a:prstGeom prst="rect">
            <a:avLst/>
          </a:prstGeom>
          <a:solidFill>
            <a:srgbClr val="10B981"/>
          </a:solidFill>
          <a:ln w="12700">
            <a:solidFill>
              <a:srgbClr val="10B981"/>
            </a:solidFill>
            <a:prstDash val="solid"/>
          </a:ln>
        </p:spPr>
      </p:sp>
      <p:sp>
        <p:nvSpPr>
          <p:cNvPr id="26" name="Text 24"/>
          <p:cNvSpPr/>
          <p:nvPr/>
        </p:nvSpPr>
        <p:spPr>
          <a:xfrm>
            <a:off x="3383280" y="2331720"/>
            <a:ext cx="2651760" cy="502920"/>
          </a:xfrm>
          <a:prstGeom prst="rect">
            <a:avLst/>
          </a:prstGeom>
          <a:noFill/>
          <a:ln/>
        </p:spPr>
        <p:txBody>
          <a:bodyPr wrap="square" lIns="0" tIns="0" rIns="0" bIns="0" rtlCol="0" anchor="ctr"/>
          <a:lstStyle/>
          <a:p>
            <a:pPr algn="ctr" indent="0" marL="0">
              <a:buNone/>
            </a:pPr>
            <a:r>
              <a:rPr lang="en-US" sz="2800" b="1" dirty="0">
                <a:solidFill>
                  <a:srgbClr val="0D1B4B"/>
                </a:solidFill>
                <a:latin typeface="Calibri" pitchFamily="34" charset="0"/>
                <a:ea typeface="Calibri" pitchFamily="34" charset="-122"/>
                <a:cs typeface="Calibri" pitchFamily="34" charset="-120"/>
              </a:rPr>
              <a:t>22.7%</a:t>
            </a:r>
            <a:endParaRPr lang="en-US" sz="2800" dirty="0"/>
          </a:p>
        </p:txBody>
      </p:sp>
      <p:sp>
        <p:nvSpPr>
          <p:cNvPr id="27" name="Text 25"/>
          <p:cNvSpPr/>
          <p:nvPr/>
        </p:nvSpPr>
        <p:spPr>
          <a:xfrm>
            <a:off x="3383280" y="2816352"/>
            <a:ext cx="2651760" cy="292608"/>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missing CustomerID — kept</a:t>
            </a:r>
            <a:endParaRPr lang="en-US" sz="1000" dirty="0"/>
          </a:p>
        </p:txBody>
      </p:sp>
      <p:sp>
        <p:nvSpPr>
          <p:cNvPr id="28" name="Shape 26"/>
          <p:cNvSpPr/>
          <p:nvPr/>
        </p:nvSpPr>
        <p:spPr>
          <a:xfrm>
            <a:off x="6217920" y="2194560"/>
            <a:ext cx="2651760" cy="10058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9" name="Shape 27"/>
          <p:cNvSpPr/>
          <p:nvPr/>
        </p:nvSpPr>
        <p:spPr>
          <a:xfrm>
            <a:off x="6217920" y="2194560"/>
            <a:ext cx="2651760" cy="64008"/>
          </a:xfrm>
          <a:prstGeom prst="rect">
            <a:avLst/>
          </a:prstGeom>
          <a:solidFill>
            <a:srgbClr val="14A5B3"/>
          </a:solidFill>
          <a:ln w="12700">
            <a:solidFill>
              <a:srgbClr val="14A5B3"/>
            </a:solidFill>
            <a:prstDash val="solid"/>
          </a:ln>
        </p:spPr>
      </p:sp>
      <p:sp>
        <p:nvSpPr>
          <p:cNvPr id="30" name="Text 28"/>
          <p:cNvSpPr/>
          <p:nvPr/>
        </p:nvSpPr>
        <p:spPr>
          <a:xfrm>
            <a:off x="6217920" y="2331720"/>
            <a:ext cx="2651760" cy="502920"/>
          </a:xfrm>
          <a:prstGeom prst="rect">
            <a:avLst/>
          </a:prstGeom>
          <a:noFill/>
          <a:ln/>
        </p:spPr>
        <p:txBody>
          <a:bodyPr wrap="square" lIns="0" tIns="0" rIns="0" bIns="0" rtlCol="0" anchor="ctr"/>
          <a:lstStyle/>
          <a:p>
            <a:pPr algn="ctr" indent="0" marL="0">
              <a:buNone/>
            </a:pPr>
            <a:r>
              <a:rPr lang="en-US" sz="2800" b="1" dirty="0">
                <a:solidFill>
                  <a:srgbClr val="0D1B4B"/>
                </a:solidFill>
                <a:latin typeface="Calibri" pitchFamily="34" charset="0"/>
                <a:ea typeface="Calibri" pitchFamily="34" charset="-122"/>
                <a:cs typeface="Calibri" pitchFamily="34" charset="-120"/>
              </a:rPr>
              <a:t>100%</a:t>
            </a:r>
            <a:endParaRPr lang="en-US" sz="2800" dirty="0"/>
          </a:p>
        </p:txBody>
      </p:sp>
      <p:sp>
        <p:nvSpPr>
          <p:cNvPr id="31" name="Text 29"/>
          <p:cNvSpPr/>
          <p:nvPr/>
        </p:nvSpPr>
        <p:spPr>
          <a:xfrm>
            <a:off x="6217920" y="2816352"/>
            <a:ext cx="2651760" cy="292608"/>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data integrity downstream</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3383280" y="3337560"/>
          <a:ext cx="5577840" cy="1508760"/>
        </p:xfrm>
        <a:graphic>
          <a:graphicData uri="http://schemas.openxmlformats.org/drawingml/2006/table">
            <a:tbl>
              <a:tblPr/>
              <a:tblGrid>
                <a:gridCol w="2286000"/>
                <a:gridCol w="914400"/>
                <a:gridCol w="2377440"/>
              </a:tblGrid>
              <a:tr h="301752">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Issue</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4B"/>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Decision</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4B"/>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Business Impact</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4B"/>
                    </a:solidFill>
                  </a:tcPr>
                </a:tc>
              </a:tr>
              <a:tr h="301752">
                <a:tc>
                  <a:txBody>
                    <a:bodyPr/>
                    <a:lstStyle/>
                    <a:p>
                      <a:pPr algn="l" indent="0" marL="0">
                        <a:buNone/>
                      </a:pPr>
                      <a:r>
                        <a:rPr lang="en-US" sz="900" dirty="0">
                          <a:solidFill>
                            <a:srgbClr val="000000"/>
                          </a:solidFill>
                          <a:latin typeface="Calibri" pitchFamily="34" charset="0"/>
                          <a:ea typeface="Calibri" pitchFamily="34" charset="-122"/>
                          <a:cs typeface="Calibri" pitchFamily="34" charset="-120"/>
                        </a:rPr>
                        <a:t>3,457 numeric invoices: negative qty + $0 price</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900" dirty="0">
                          <a:solidFill>
                            <a:srgbClr val="000000"/>
                          </a:solidFill>
                          <a:latin typeface="Calibri" pitchFamily="34" charset="0"/>
                          <a:ea typeface="Calibri" pitchFamily="34" charset="-122"/>
                          <a:cs typeface="Calibri" pitchFamily="34" charset="-120"/>
                        </a:rPr>
                        <a:t>Remove</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900" dirty="0">
                          <a:solidFill>
                            <a:srgbClr val="000000"/>
                          </a:solidFill>
                          <a:latin typeface="Calibri" pitchFamily="34" charset="0"/>
                          <a:ea typeface="Calibri" pitchFamily="34" charset="-122"/>
                          <a:cs typeface="Calibri" pitchFamily="34" charset="-120"/>
                        </a:rPr>
                        <a:t>Store corrections — not customer sales</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01752">
                <a:tc>
                  <a:txBody>
                    <a:bodyPr/>
                    <a:lstStyle/>
                    <a:p>
                      <a:pPr algn="l" indent="0" marL="0">
                        <a:buNone/>
                      </a:pPr>
                      <a:r>
                        <a:rPr lang="en-US" sz="900" dirty="0">
                          <a:solidFill>
                            <a:srgbClr val="000000"/>
                          </a:solidFill>
                          <a:latin typeface="Calibri" pitchFamily="34" charset="0"/>
                          <a:ea typeface="Calibri" pitchFamily="34" charset="-122"/>
                          <a:cs typeface="Calibri" pitchFamily="34" charset="-120"/>
                        </a:rPr>
                        <a:t>6 A-invoice bad debt adjustments</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900" dirty="0">
                          <a:solidFill>
                            <a:srgbClr val="000000"/>
                          </a:solidFill>
                          <a:latin typeface="Calibri" pitchFamily="34" charset="0"/>
                          <a:ea typeface="Calibri" pitchFamily="34" charset="-122"/>
                          <a:cs typeface="Calibri" pitchFamily="34" charset="-120"/>
                        </a:rPr>
                        <a:t>Remove</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900" dirty="0">
                          <a:solidFill>
                            <a:srgbClr val="000000"/>
                          </a:solidFill>
                          <a:latin typeface="Calibri" pitchFamily="34" charset="0"/>
                          <a:ea typeface="Calibri" pitchFamily="34" charset="-122"/>
                          <a:cs typeface="Calibri" pitchFamily="34" charset="-120"/>
                        </a:rPr>
                        <a:t>Accounting entries — skew revenue totals</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01752">
                <a:tc>
                  <a:txBody>
                    <a:bodyPr/>
                    <a:lstStyle/>
                    <a:p>
                      <a:pPr algn="l" indent="0" marL="0">
                        <a:buNone/>
                      </a:pPr>
                      <a:r>
                        <a:rPr lang="en-US" sz="900" dirty="0">
                          <a:solidFill>
                            <a:srgbClr val="000000"/>
                          </a:solidFill>
                          <a:latin typeface="Calibri" pitchFamily="34" charset="0"/>
                          <a:ea typeface="Calibri" pitchFamily="34" charset="-122"/>
                          <a:cs typeface="Calibri" pitchFamily="34" charset="-120"/>
                        </a:rPr>
                        <a:t>34,335 exact duplicate rows (3.22%)</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900" dirty="0">
                          <a:solidFill>
                            <a:srgbClr val="000000"/>
                          </a:solidFill>
                          <a:latin typeface="Calibri" pitchFamily="34" charset="0"/>
                          <a:ea typeface="Calibri" pitchFamily="34" charset="-122"/>
                          <a:cs typeface="Calibri" pitchFamily="34" charset="-120"/>
                        </a:rPr>
                        <a:t>Remove 1 copy</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900" dirty="0">
                          <a:solidFill>
                            <a:srgbClr val="000000"/>
                          </a:solidFill>
                          <a:latin typeface="Calibri" pitchFamily="34" charset="0"/>
                          <a:ea typeface="Calibri" pitchFamily="34" charset="-122"/>
                          <a:cs typeface="Calibri" pitchFamily="34" charset="-120"/>
                        </a:rPr>
                        <a:t>Prevents double-counting transactions</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01752">
                <a:tc>
                  <a:txBody>
                    <a:bodyPr/>
                    <a:lstStyle/>
                    <a:p>
                      <a:pPr algn="l" indent="0" marL="0">
                        <a:buNone/>
                      </a:pPr>
                      <a:r>
                        <a:rPr lang="en-US" sz="900" dirty="0">
                          <a:solidFill>
                            <a:srgbClr val="000000"/>
                          </a:solidFill>
                          <a:latin typeface="Calibri" pitchFamily="34" charset="0"/>
                          <a:ea typeface="Calibri" pitchFamily="34" charset="-122"/>
                          <a:cs typeface="Calibri" pitchFamily="34" charset="-120"/>
                        </a:rPr>
                        <a:t>22.7% missing CustomerID</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900" dirty="0">
                          <a:solidFill>
                            <a:srgbClr val="000000"/>
                          </a:solidFill>
                          <a:latin typeface="Calibri" pitchFamily="34" charset="0"/>
                          <a:ea typeface="Calibri" pitchFamily="34" charset="-122"/>
                          <a:cs typeface="Calibri" pitchFamily="34" charset="-120"/>
                        </a:rPr>
                        <a:t>Keep</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900" dirty="0">
                          <a:solidFill>
                            <a:srgbClr val="000000"/>
                          </a:solidFill>
                          <a:latin typeface="Calibri" pitchFamily="34" charset="0"/>
                          <a:ea typeface="Calibri" pitchFamily="34" charset="-122"/>
                          <a:cs typeface="Calibri" pitchFamily="34" charset="-120"/>
                        </a:rPr>
                        <a:t>Guest checkouts — valid product data</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7C86"/>
          </a:solidFill>
          <a:ln w="12700">
            <a:solidFill>
              <a:srgbClr val="0E7C86"/>
            </a:solidFill>
            <a:prstDash val="solid"/>
          </a:ln>
        </p:spPr>
      </p:sp>
      <p:sp>
        <p:nvSpPr>
          <p:cNvPr id="3" name="Text 1"/>
          <p:cNvSpPr/>
          <p:nvPr/>
        </p:nvSpPr>
        <p:spPr>
          <a:xfrm>
            <a:off x="7772400" y="109728"/>
            <a:ext cx="128016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02 / 04</a:t>
            </a:r>
            <a:endParaRPr lang="en-US" sz="900" dirty="0"/>
          </a:p>
        </p:txBody>
      </p:sp>
      <p:sp>
        <p:nvSpPr>
          <p:cNvPr id="4" name="Shape 2"/>
          <p:cNvSpPr/>
          <p:nvPr/>
        </p:nvSpPr>
        <p:spPr>
          <a:xfrm>
            <a:off x="0" y="4983480"/>
            <a:ext cx="9144000" cy="164592"/>
          </a:xfrm>
          <a:prstGeom prst="rect">
            <a:avLst/>
          </a:prstGeom>
          <a:solidFill>
            <a:srgbClr val="0D1B4B"/>
          </a:solidFill>
          <a:ln w="12700">
            <a:solidFill>
              <a:srgbClr val="0D1B4B"/>
            </a:solidFill>
            <a:prstDash val="solid"/>
          </a:ln>
        </p:spPr>
      </p:sp>
      <p:sp>
        <p:nvSpPr>
          <p:cNvPr id="5" name="Text 3"/>
          <p:cNvSpPr/>
          <p:nvPr/>
        </p:nvSpPr>
        <p:spPr>
          <a:xfrm>
            <a:off x="274320" y="4983480"/>
            <a:ext cx="8595360" cy="164592"/>
          </a:xfrm>
          <a:prstGeom prst="rect">
            <a:avLst/>
          </a:prstGeom>
          <a:noFill/>
          <a:ln/>
        </p:spPr>
        <p:txBody>
          <a:bodyPr wrap="square" rtlCol="0" anchor="ctr"/>
          <a:lstStyle/>
          <a:p>
            <a:pPr algn="l" indent="0" marL="0">
              <a:buNone/>
            </a:pPr>
            <a:r>
              <a:rPr lang="en-US" sz="750" dirty="0">
                <a:solidFill>
                  <a:srgbClr val="AABBCC"/>
                </a:solidFill>
                <a:latin typeface="Calibri" pitchFamily="34" charset="0"/>
                <a:ea typeface="Calibri" pitchFamily="34" charset="-122"/>
                <a:cs typeface="Calibri" pitchFamily="34" charset="-120"/>
              </a:rPr>
              <a:t>Thuy Nguyen  ·  Online Retail CLV &amp; Segmentation Analysis  ·  University of Michigan-Flint</a:t>
            </a:r>
            <a:endParaRPr lang="en-US" sz="750" dirty="0"/>
          </a:p>
        </p:txBody>
      </p:sp>
      <p:sp>
        <p:nvSpPr>
          <p:cNvPr id="6" name="Text 4"/>
          <p:cNvSpPr/>
          <p:nvPr/>
        </p:nvSpPr>
        <p:spPr>
          <a:xfrm>
            <a:off x="274320" y="109728"/>
            <a:ext cx="8595360" cy="411480"/>
          </a:xfrm>
          <a:prstGeom prst="rect">
            <a:avLst/>
          </a:prstGeom>
          <a:noFill/>
          <a:ln/>
        </p:spPr>
        <p:txBody>
          <a:bodyPr wrap="square" rtlCol="0" anchor="ctr"/>
          <a:lstStyle/>
          <a:p>
            <a:pPr indent="0" marL="0">
              <a:buNone/>
            </a:pPr>
            <a:r>
              <a:rPr lang="en-US" sz="2200" b="1" dirty="0">
                <a:solidFill>
                  <a:srgbClr val="0D1B4B"/>
                </a:solidFill>
                <a:latin typeface="Calibri" pitchFamily="34" charset="0"/>
                <a:ea typeface="Calibri" pitchFamily="34" charset="-122"/>
                <a:cs typeface="Calibri" pitchFamily="34" charset="-120"/>
              </a:rPr>
              <a:t>Segmentation Deep Dive</a:t>
            </a:r>
            <a:endParaRPr lang="en-US" sz="2200" dirty="0"/>
          </a:p>
        </p:txBody>
      </p:sp>
      <p:sp>
        <p:nvSpPr>
          <p:cNvPr id="7" name="Text 5"/>
          <p:cNvSpPr/>
          <p:nvPr/>
        </p:nvSpPr>
        <p:spPr>
          <a:xfrm>
            <a:off x="274320" y="530352"/>
            <a:ext cx="8595360" cy="219456"/>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Rule-based RFM model · 5 priority-ordered segments · Quantile thresholds</a:t>
            </a:r>
            <a:endParaRPr lang="en-US" sz="1100" dirty="0"/>
          </a:p>
        </p:txBody>
      </p:sp>
      <p:graphicFrame>
        <p:nvGraphicFramePr>
          <p:cNvPr id="8" name="Chart 0" descr=""/>
          <p:cNvGraphicFramePr/>
          <p:nvPr/>
        </p:nvGraphicFramePr>
        <p:xfrm>
          <a:off x="274320" y="822960"/>
          <a:ext cx="4206240" cy="219456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4663440" y="804672"/>
            <a:ext cx="4206240" cy="457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0" name="Shape 7"/>
          <p:cNvSpPr/>
          <p:nvPr/>
        </p:nvSpPr>
        <p:spPr>
          <a:xfrm>
            <a:off x="4663440" y="804672"/>
            <a:ext cx="54864" cy="457200"/>
          </a:xfrm>
          <a:prstGeom prst="rect">
            <a:avLst/>
          </a:prstGeom>
          <a:solidFill>
            <a:srgbClr val="0E7C86"/>
          </a:solidFill>
          <a:ln w="12700">
            <a:solidFill>
              <a:srgbClr val="0E7C86"/>
            </a:solidFill>
            <a:prstDash val="solid"/>
          </a:ln>
        </p:spPr>
      </p:sp>
      <p:sp>
        <p:nvSpPr>
          <p:cNvPr id="11" name="Text 8"/>
          <p:cNvSpPr/>
          <p:nvPr/>
        </p:nvSpPr>
        <p:spPr>
          <a:xfrm>
            <a:off x="4773168" y="841248"/>
            <a:ext cx="1371600" cy="201168"/>
          </a:xfrm>
          <a:prstGeom prst="rect">
            <a:avLst/>
          </a:prstGeom>
          <a:noFill/>
          <a:ln/>
        </p:spPr>
        <p:txBody>
          <a:bodyPr wrap="square" lIns="0" tIns="0" rIns="0" bIns="0" rtlCol="0" anchor="ctr"/>
          <a:lstStyle/>
          <a:p>
            <a:pPr indent="0" marL="0">
              <a:buNone/>
            </a:pPr>
            <a:r>
              <a:rPr lang="en-US" sz="1000" b="1" dirty="0">
                <a:solidFill>
                  <a:srgbClr val="0D1B4B"/>
                </a:solidFill>
                <a:latin typeface="Calibri" pitchFamily="34" charset="0"/>
                <a:ea typeface="Calibri" pitchFamily="34" charset="-122"/>
                <a:cs typeface="Calibri" pitchFamily="34" charset="-120"/>
              </a:rPr>
              <a:t>High Value</a:t>
            </a:r>
            <a:endParaRPr lang="en-US" sz="1000" dirty="0"/>
          </a:p>
        </p:txBody>
      </p:sp>
      <p:sp>
        <p:nvSpPr>
          <p:cNvPr id="12" name="Text 9"/>
          <p:cNvSpPr/>
          <p:nvPr/>
        </p:nvSpPr>
        <p:spPr>
          <a:xfrm>
            <a:off x="6144768" y="841248"/>
            <a:ext cx="109728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19.9% customers</a:t>
            </a:r>
            <a:endParaRPr lang="en-US" sz="900" dirty="0"/>
          </a:p>
        </p:txBody>
      </p:sp>
      <p:sp>
        <p:nvSpPr>
          <p:cNvPr id="13" name="Text 10"/>
          <p:cNvSpPr/>
          <p:nvPr/>
        </p:nvSpPr>
        <p:spPr>
          <a:xfrm>
            <a:off x="7242048" y="841248"/>
            <a:ext cx="914400" cy="201168"/>
          </a:xfrm>
          <a:prstGeom prst="rect">
            <a:avLst/>
          </a:prstGeom>
          <a:noFill/>
          <a:ln/>
        </p:spPr>
        <p:txBody>
          <a:bodyPr wrap="square" lIns="0" tIns="0" rIns="0" bIns="0" rtlCol="0" anchor="ctr"/>
          <a:lstStyle/>
          <a:p>
            <a:pPr algn="r" indent="0" marL="0">
              <a:buNone/>
            </a:pPr>
            <a:r>
              <a:rPr lang="en-US" sz="900" b="1" dirty="0">
                <a:solidFill>
                  <a:srgbClr val="0E7C86"/>
                </a:solidFill>
                <a:latin typeface="Calibri" pitchFamily="34" charset="0"/>
                <a:ea typeface="Calibri" pitchFamily="34" charset="-122"/>
                <a:cs typeface="Calibri" pitchFamily="34" charset="-120"/>
              </a:rPr>
              <a:t>77.1% revenue</a:t>
            </a:r>
            <a:endParaRPr lang="en-US" sz="900" dirty="0"/>
          </a:p>
        </p:txBody>
      </p:sp>
      <p:sp>
        <p:nvSpPr>
          <p:cNvPr id="14" name="Text 11"/>
          <p:cNvSpPr/>
          <p:nvPr/>
        </p:nvSpPr>
        <p:spPr>
          <a:xfrm>
            <a:off x="4773168" y="1042416"/>
            <a:ext cx="4005072" cy="16459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£10,879 avg</a:t>
            </a:r>
            <a:endParaRPr lang="en-US" sz="850" dirty="0"/>
          </a:p>
        </p:txBody>
      </p:sp>
      <p:sp>
        <p:nvSpPr>
          <p:cNvPr id="15" name="Shape 12"/>
          <p:cNvSpPr/>
          <p:nvPr/>
        </p:nvSpPr>
        <p:spPr>
          <a:xfrm>
            <a:off x="4663440" y="1335024"/>
            <a:ext cx="4206240" cy="457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6" name="Shape 13"/>
          <p:cNvSpPr/>
          <p:nvPr/>
        </p:nvSpPr>
        <p:spPr>
          <a:xfrm>
            <a:off x="4663440" y="1335024"/>
            <a:ext cx="54864" cy="457200"/>
          </a:xfrm>
          <a:prstGeom prst="rect">
            <a:avLst/>
          </a:prstGeom>
          <a:solidFill>
            <a:srgbClr val="14A5B3"/>
          </a:solidFill>
          <a:ln w="12700">
            <a:solidFill>
              <a:srgbClr val="14A5B3"/>
            </a:solidFill>
            <a:prstDash val="solid"/>
          </a:ln>
        </p:spPr>
      </p:sp>
      <p:sp>
        <p:nvSpPr>
          <p:cNvPr id="17" name="Text 14"/>
          <p:cNvSpPr/>
          <p:nvPr/>
        </p:nvSpPr>
        <p:spPr>
          <a:xfrm>
            <a:off x="4773168" y="1371600"/>
            <a:ext cx="1371600" cy="201168"/>
          </a:xfrm>
          <a:prstGeom prst="rect">
            <a:avLst/>
          </a:prstGeom>
          <a:noFill/>
          <a:ln/>
        </p:spPr>
        <p:txBody>
          <a:bodyPr wrap="square" lIns="0" tIns="0" rIns="0" bIns="0" rtlCol="0" anchor="ctr"/>
          <a:lstStyle/>
          <a:p>
            <a:pPr indent="0" marL="0">
              <a:buNone/>
            </a:pPr>
            <a:r>
              <a:rPr lang="en-US" sz="1000" b="1" dirty="0">
                <a:solidFill>
                  <a:srgbClr val="0D1B4B"/>
                </a:solidFill>
                <a:latin typeface="Calibri" pitchFamily="34" charset="0"/>
                <a:ea typeface="Calibri" pitchFamily="34" charset="-122"/>
                <a:cs typeface="Calibri" pitchFamily="34" charset="-120"/>
              </a:rPr>
              <a:t>Low Value</a:t>
            </a:r>
            <a:endParaRPr lang="en-US" sz="1000" dirty="0"/>
          </a:p>
        </p:txBody>
      </p:sp>
      <p:sp>
        <p:nvSpPr>
          <p:cNvPr id="18" name="Text 15"/>
          <p:cNvSpPr/>
          <p:nvPr/>
        </p:nvSpPr>
        <p:spPr>
          <a:xfrm>
            <a:off x="6144768" y="1371600"/>
            <a:ext cx="109728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49.3% customers</a:t>
            </a:r>
            <a:endParaRPr lang="en-US" sz="900" dirty="0"/>
          </a:p>
        </p:txBody>
      </p:sp>
      <p:sp>
        <p:nvSpPr>
          <p:cNvPr id="19" name="Text 16"/>
          <p:cNvSpPr/>
          <p:nvPr/>
        </p:nvSpPr>
        <p:spPr>
          <a:xfrm>
            <a:off x="7242048" y="1371600"/>
            <a:ext cx="914400" cy="201168"/>
          </a:xfrm>
          <a:prstGeom prst="rect">
            <a:avLst/>
          </a:prstGeom>
          <a:noFill/>
          <a:ln/>
        </p:spPr>
        <p:txBody>
          <a:bodyPr wrap="square" lIns="0" tIns="0" rIns="0" bIns="0" rtlCol="0" anchor="ctr"/>
          <a:lstStyle/>
          <a:p>
            <a:pPr algn="r" indent="0" marL="0">
              <a:buNone/>
            </a:pPr>
            <a:r>
              <a:rPr lang="en-US" sz="900" b="1" dirty="0">
                <a:solidFill>
                  <a:srgbClr val="14A5B3"/>
                </a:solidFill>
                <a:latin typeface="Calibri" pitchFamily="34" charset="0"/>
                <a:ea typeface="Calibri" pitchFamily="34" charset="-122"/>
                <a:cs typeface="Calibri" pitchFamily="34" charset="-120"/>
              </a:rPr>
              <a:t>16.4% revenue</a:t>
            </a:r>
            <a:endParaRPr lang="en-US" sz="900" dirty="0"/>
          </a:p>
        </p:txBody>
      </p:sp>
      <p:sp>
        <p:nvSpPr>
          <p:cNvPr id="20" name="Text 17"/>
          <p:cNvSpPr/>
          <p:nvPr/>
        </p:nvSpPr>
        <p:spPr>
          <a:xfrm>
            <a:off x="4773168" y="1572768"/>
            <a:ext cx="4005072" cy="16459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£934 avg</a:t>
            </a:r>
            <a:endParaRPr lang="en-US" sz="850" dirty="0"/>
          </a:p>
        </p:txBody>
      </p:sp>
      <p:sp>
        <p:nvSpPr>
          <p:cNvPr id="21" name="Shape 18"/>
          <p:cNvSpPr/>
          <p:nvPr/>
        </p:nvSpPr>
        <p:spPr>
          <a:xfrm>
            <a:off x="4663440" y="1865376"/>
            <a:ext cx="4206240" cy="457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2" name="Shape 19"/>
          <p:cNvSpPr/>
          <p:nvPr/>
        </p:nvSpPr>
        <p:spPr>
          <a:xfrm>
            <a:off x="4663440" y="1865376"/>
            <a:ext cx="54864" cy="457200"/>
          </a:xfrm>
          <a:prstGeom prst="rect">
            <a:avLst/>
          </a:prstGeom>
          <a:solidFill>
            <a:srgbClr val="F59E0B"/>
          </a:solidFill>
          <a:ln w="12700">
            <a:solidFill>
              <a:srgbClr val="F59E0B"/>
            </a:solidFill>
            <a:prstDash val="solid"/>
          </a:ln>
        </p:spPr>
      </p:sp>
      <p:sp>
        <p:nvSpPr>
          <p:cNvPr id="23" name="Text 20"/>
          <p:cNvSpPr/>
          <p:nvPr/>
        </p:nvSpPr>
        <p:spPr>
          <a:xfrm>
            <a:off x="4773168" y="1901952"/>
            <a:ext cx="1371600" cy="201168"/>
          </a:xfrm>
          <a:prstGeom prst="rect">
            <a:avLst/>
          </a:prstGeom>
          <a:noFill/>
          <a:ln/>
        </p:spPr>
        <p:txBody>
          <a:bodyPr wrap="square" lIns="0" tIns="0" rIns="0" bIns="0" rtlCol="0" anchor="ctr"/>
          <a:lstStyle/>
          <a:p>
            <a:pPr indent="0" marL="0">
              <a:buNone/>
            </a:pPr>
            <a:r>
              <a:rPr lang="en-US" sz="1000" b="1" dirty="0">
                <a:solidFill>
                  <a:srgbClr val="0D1B4B"/>
                </a:solidFill>
                <a:latin typeface="Calibri" pitchFamily="34" charset="0"/>
                <a:ea typeface="Calibri" pitchFamily="34" charset="-122"/>
                <a:cs typeface="Calibri" pitchFamily="34" charset="-120"/>
              </a:rPr>
              <a:t>One-time Buyer</a:t>
            </a:r>
            <a:endParaRPr lang="en-US" sz="1000" dirty="0"/>
          </a:p>
        </p:txBody>
      </p:sp>
      <p:sp>
        <p:nvSpPr>
          <p:cNvPr id="24" name="Text 21"/>
          <p:cNvSpPr/>
          <p:nvPr/>
        </p:nvSpPr>
        <p:spPr>
          <a:xfrm>
            <a:off x="6144768" y="1901952"/>
            <a:ext cx="109728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23.5% customers</a:t>
            </a:r>
            <a:endParaRPr lang="en-US" sz="900" dirty="0"/>
          </a:p>
        </p:txBody>
      </p:sp>
      <p:sp>
        <p:nvSpPr>
          <p:cNvPr id="25" name="Text 22"/>
          <p:cNvSpPr/>
          <p:nvPr/>
        </p:nvSpPr>
        <p:spPr>
          <a:xfrm>
            <a:off x="7242048" y="1901952"/>
            <a:ext cx="914400" cy="201168"/>
          </a:xfrm>
          <a:prstGeom prst="rect">
            <a:avLst/>
          </a:prstGeom>
          <a:noFill/>
          <a:ln/>
        </p:spPr>
        <p:txBody>
          <a:bodyPr wrap="square" lIns="0" tIns="0" rIns="0" bIns="0" rtlCol="0" anchor="ctr"/>
          <a:lstStyle/>
          <a:p>
            <a:pPr algn="r" indent="0" marL="0">
              <a:buNone/>
            </a:pPr>
            <a:r>
              <a:rPr lang="en-US" sz="900" b="1" dirty="0">
                <a:solidFill>
                  <a:srgbClr val="F59E0B"/>
                </a:solidFill>
                <a:latin typeface="Calibri" pitchFamily="34" charset="0"/>
                <a:ea typeface="Calibri" pitchFamily="34" charset="-122"/>
                <a:cs typeface="Calibri" pitchFamily="34" charset="-120"/>
              </a:rPr>
              <a:t>2.5% revenue</a:t>
            </a:r>
            <a:endParaRPr lang="en-US" sz="900" dirty="0"/>
          </a:p>
        </p:txBody>
      </p:sp>
      <p:sp>
        <p:nvSpPr>
          <p:cNvPr id="26" name="Text 23"/>
          <p:cNvSpPr/>
          <p:nvPr/>
        </p:nvSpPr>
        <p:spPr>
          <a:xfrm>
            <a:off x="4773168" y="2103120"/>
            <a:ext cx="4005072" cy="16459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£297 avg</a:t>
            </a:r>
            <a:endParaRPr lang="en-US" sz="850" dirty="0"/>
          </a:p>
        </p:txBody>
      </p:sp>
      <p:sp>
        <p:nvSpPr>
          <p:cNvPr id="27" name="Shape 24"/>
          <p:cNvSpPr/>
          <p:nvPr/>
        </p:nvSpPr>
        <p:spPr>
          <a:xfrm>
            <a:off x="4663440" y="2395728"/>
            <a:ext cx="4206240" cy="457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8" name="Shape 25"/>
          <p:cNvSpPr/>
          <p:nvPr/>
        </p:nvSpPr>
        <p:spPr>
          <a:xfrm>
            <a:off x="4663440" y="2395728"/>
            <a:ext cx="54864" cy="457200"/>
          </a:xfrm>
          <a:prstGeom prst="rect">
            <a:avLst/>
          </a:prstGeom>
          <a:solidFill>
            <a:srgbClr val="10B981"/>
          </a:solidFill>
          <a:ln w="12700">
            <a:solidFill>
              <a:srgbClr val="10B981"/>
            </a:solidFill>
            <a:prstDash val="solid"/>
          </a:ln>
        </p:spPr>
      </p:sp>
      <p:sp>
        <p:nvSpPr>
          <p:cNvPr id="29" name="Text 26"/>
          <p:cNvSpPr/>
          <p:nvPr/>
        </p:nvSpPr>
        <p:spPr>
          <a:xfrm>
            <a:off x="4773168" y="2432304"/>
            <a:ext cx="1371600" cy="201168"/>
          </a:xfrm>
          <a:prstGeom prst="rect">
            <a:avLst/>
          </a:prstGeom>
          <a:noFill/>
          <a:ln/>
        </p:spPr>
        <p:txBody>
          <a:bodyPr wrap="square" lIns="0" tIns="0" rIns="0" bIns="0" rtlCol="0" anchor="ctr"/>
          <a:lstStyle/>
          <a:p>
            <a:pPr indent="0" marL="0">
              <a:buNone/>
            </a:pPr>
            <a:r>
              <a:rPr lang="en-US" sz="1000" b="1" dirty="0">
                <a:solidFill>
                  <a:srgbClr val="0D1B4B"/>
                </a:solidFill>
                <a:latin typeface="Calibri" pitchFamily="34" charset="0"/>
                <a:ea typeface="Calibri" pitchFamily="34" charset="-122"/>
                <a:cs typeface="Calibri" pitchFamily="34" charset="-120"/>
              </a:rPr>
              <a:t>Frequent Low Spend</a:t>
            </a:r>
            <a:endParaRPr lang="en-US" sz="1000" dirty="0"/>
          </a:p>
        </p:txBody>
      </p:sp>
      <p:sp>
        <p:nvSpPr>
          <p:cNvPr id="30" name="Text 27"/>
          <p:cNvSpPr/>
          <p:nvPr/>
        </p:nvSpPr>
        <p:spPr>
          <a:xfrm>
            <a:off x="6144768" y="2432304"/>
            <a:ext cx="109728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5.2% customers</a:t>
            </a:r>
            <a:endParaRPr lang="en-US" sz="900" dirty="0"/>
          </a:p>
        </p:txBody>
      </p:sp>
      <p:sp>
        <p:nvSpPr>
          <p:cNvPr id="31" name="Text 28"/>
          <p:cNvSpPr/>
          <p:nvPr/>
        </p:nvSpPr>
        <p:spPr>
          <a:xfrm>
            <a:off x="7242048" y="2432304"/>
            <a:ext cx="914400" cy="201168"/>
          </a:xfrm>
          <a:prstGeom prst="rect">
            <a:avLst/>
          </a:prstGeom>
          <a:noFill/>
          <a:ln/>
        </p:spPr>
        <p:txBody>
          <a:bodyPr wrap="square" lIns="0" tIns="0" rIns="0" bIns="0" rtlCol="0" anchor="ctr"/>
          <a:lstStyle/>
          <a:p>
            <a:pPr algn="r" indent="0" marL="0">
              <a:buNone/>
            </a:pPr>
            <a:r>
              <a:rPr lang="en-US" sz="900" b="1" dirty="0">
                <a:solidFill>
                  <a:srgbClr val="10B981"/>
                </a:solidFill>
                <a:latin typeface="Calibri" pitchFamily="34" charset="0"/>
                <a:ea typeface="Calibri" pitchFamily="34" charset="-122"/>
                <a:cs typeface="Calibri" pitchFamily="34" charset="-120"/>
              </a:rPr>
              <a:t>3.7% revenue</a:t>
            </a:r>
            <a:endParaRPr lang="en-US" sz="900" dirty="0"/>
          </a:p>
        </p:txBody>
      </p:sp>
      <p:sp>
        <p:nvSpPr>
          <p:cNvPr id="32" name="Text 29"/>
          <p:cNvSpPr/>
          <p:nvPr/>
        </p:nvSpPr>
        <p:spPr>
          <a:xfrm>
            <a:off x="4773168" y="2633472"/>
            <a:ext cx="4005072" cy="16459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£1,997 avg</a:t>
            </a:r>
            <a:endParaRPr lang="en-US" sz="850" dirty="0"/>
          </a:p>
        </p:txBody>
      </p:sp>
      <p:sp>
        <p:nvSpPr>
          <p:cNvPr id="33" name="Shape 30"/>
          <p:cNvSpPr/>
          <p:nvPr/>
        </p:nvSpPr>
        <p:spPr>
          <a:xfrm>
            <a:off x="4663440" y="2926080"/>
            <a:ext cx="4206240" cy="457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4" name="Shape 31"/>
          <p:cNvSpPr/>
          <p:nvPr/>
        </p:nvSpPr>
        <p:spPr>
          <a:xfrm>
            <a:off x="4663440" y="2926080"/>
            <a:ext cx="54864" cy="457200"/>
          </a:xfrm>
          <a:prstGeom prst="rect">
            <a:avLst/>
          </a:prstGeom>
          <a:solidFill>
            <a:srgbClr val="EF4444"/>
          </a:solidFill>
          <a:ln w="12700">
            <a:solidFill>
              <a:srgbClr val="EF4444"/>
            </a:solidFill>
            <a:prstDash val="solid"/>
          </a:ln>
        </p:spPr>
      </p:sp>
      <p:sp>
        <p:nvSpPr>
          <p:cNvPr id="35" name="Text 32"/>
          <p:cNvSpPr/>
          <p:nvPr/>
        </p:nvSpPr>
        <p:spPr>
          <a:xfrm>
            <a:off x="4773168" y="2962656"/>
            <a:ext cx="1371600" cy="201168"/>
          </a:xfrm>
          <a:prstGeom prst="rect">
            <a:avLst/>
          </a:prstGeom>
          <a:noFill/>
          <a:ln/>
        </p:spPr>
        <p:txBody>
          <a:bodyPr wrap="square" lIns="0" tIns="0" rIns="0" bIns="0" rtlCol="0" anchor="ctr"/>
          <a:lstStyle/>
          <a:p>
            <a:pPr indent="0" marL="0">
              <a:buNone/>
            </a:pPr>
            <a:r>
              <a:rPr lang="en-US" sz="1000" b="1" dirty="0">
                <a:solidFill>
                  <a:srgbClr val="0D1B4B"/>
                </a:solidFill>
                <a:latin typeface="Calibri" pitchFamily="34" charset="0"/>
                <a:ea typeface="Calibri" pitchFamily="34" charset="-122"/>
                <a:cs typeface="Calibri" pitchFamily="34" charset="-120"/>
              </a:rPr>
              <a:t>Risky</a:t>
            </a:r>
            <a:endParaRPr lang="en-US" sz="1000" dirty="0"/>
          </a:p>
        </p:txBody>
      </p:sp>
      <p:sp>
        <p:nvSpPr>
          <p:cNvPr id="36" name="Text 33"/>
          <p:cNvSpPr/>
          <p:nvPr/>
        </p:nvSpPr>
        <p:spPr>
          <a:xfrm>
            <a:off x="6144768" y="2962656"/>
            <a:ext cx="109728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1.2% customers</a:t>
            </a:r>
            <a:endParaRPr lang="en-US" sz="900" dirty="0"/>
          </a:p>
        </p:txBody>
      </p:sp>
      <p:sp>
        <p:nvSpPr>
          <p:cNvPr id="37" name="Text 34"/>
          <p:cNvSpPr/>
          <p:nvPr/>
        </p:nvSpPr>
        <p:spPr>
          <a:xfrm>
            <a:off x="7242048" y="2962656"/>
            <a:ext cx="914400" cy="201168"/>
          </a:xfrm>
          <a:prstGeom prst="rect">
            <a:avLst/>
          </a:prstGeom>
          <a:noFill/>
          <a:ln/>
        </p:spPr>
        <p:txBody>
          <a:bodyPr wrap="square" lIns="0" tIns="0" rIns="0" bIns="0" rtlCol="0" anchor="ctr"/>
          <a:lstStyle/>
          <a:p>
            <a:pPr algn="r" indent="0" marL="0">
              <a:buNone/>
            </a:pPr>
            <a:r>
              <a:rPr lang="en-US" sz="900" b="1" dirty="0">
                <a:solidFill>
                  <a:srgbClr val="EF4444"/>
                </a:solidFill>
                <a:latin typeface="Calibri" pitchFamily="34" charset="0"/>
                <a:ea typeface="Calibri" pitchFamily="34" charset="-122"/>
                <a:cs typeface="Calibri" pitchFamily="34" charset="-120"/>
              </a:rPr>
              <a:t>0.6% revenue</a:t>
            </a:r>
            <a:endParaRPr lang="en-US" sz="900" dirty="0"/>
          </a:p>
        </p:txBody>
      </p:sp>
      <p:sp>
        <p:nvSpPr>
          <p:cNvPr id="38" name="Text 35"/>
          <p:cNvSpPr/>
          <p:nvPr/>
        </p:nvSpPr>
        <p:spPr>
          <a:xfrm>
            <a:off x="4773168" y="3163824"/>
            <a:ext cx="4005072" cy="16459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63% cancel</a:t>
            </a:r>
            <a:endParaRPr lang="en-US" sz="850" dirty="0"/>
          </a:p>
        </p:txBody>
      </p:sp>
      <p:graphicFrame>
        <p:nvGraphicFramePr>
          <p:cNvPr id="39" name="Chart 1" descr=""/>
          <p:cNvGraphicFramePr/>
          <p:nvPr/>
        </p:nvGraphicFramePr>
        <p:xfrm>
          <a:off x="274320" y="3154680"/>
          <a:ext cx="4206240" cy="1691640"/>
        </p:xfrm>
        <a:graphic xmlns:a="http://schemas.openxmlformats.org/drawingml/2006/main">
          <a:graphicData uri="http://schemas.openxmlformats.org/drawingml/2006/chart">
            <c:chart xmlns:c="http://schemas.openxmlformats.org/drawingml/2006/chart" r:id="rId2"/>
          </a:graphicData>
        </a:graphic>
      </p:graphicFrame>
      <p:sp>
        <p:nvSpPr>
          <p:cNvPr id="40" name="Shape 36"/>
          <p:cNvSpPr/>
          <p:nvPr/>
        </p:nvSpPr>
        <p:spPr>
          <a:xfrm>
            <a:off x="4663440" y="3154680"/>
            <a:ext cx="4206240" cy="1691640"/>
          </a:xfrm>
          <a:prstGeom prst="rect">
            <a:avLst/>
          </a:prstGeom>
          <a:solidFill>
            <a:srgbClr val="0D1B4B"/>
          </a:solidFill>
          <a:ln w="12700">
            <a:solidFill>
              <a:srgbClr val="0D1B4B"/>
            </a:solidFill>
            <a:prstDash val="solid"/>
          </a:ln>
          <a:effectLst>
            <a:outerShdw sx="100000" sy="100000" kx="0" ky="0" algn="bl" rotWithShape="0" blurRad="101600" dist="38100" dir="8100000">
              <a:srgbClr val="000000">
                <a:alpha val="10000"/>
              </a:srgbClr>
            </a:outerShdw>
          </a:effectLst>
        </p:spPr>
      </p:sp>
      <p:sp>
        <p:nvSpPr>
          <p:cNvPr id="41" name="Text 37"/>
          <p:cNvSpPr/>
          <p:nvPr/>
        </p:nvSpPr>
        <p:spPr>
          <a:xfrm>
            <a:off x="4754880" y="3218688"/>
            <a:ext cx="402336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Strategic Recommendations</a:t>
            </a:r>
            <a:endParaRPr lang="en-US" sz="1200" dirty="0"/>
          </a:p>
        </p:txBody>
      </p:sp>
      <p:sp>
        <p:nvSpPr>
          <p:cNvPr id="42" name="Text 38"/>
          <p:cNvSpPr/>
          <p:nvPr/>
        </p:nvSpPr>
        <p:spPr>
          <a:xfrm>
            <a:off x="4754880" y="3547872"/>
            <a:ext cx="1371600" cy="237744"/>
          </a:xfrm>
          <a:prstGeom prst="rect">
            <a:avLst/>
          </a:prstGeom>
          <a:noFill/>
          <a:ln/>
        </p:spPr>
        <p:txBody>
          <a:bodyPr wrap="square" lIns="0" tIns="0" rIns="0" bIns="0" rtlCol="0" anchor="ctr"/>
          <a:lstStyle/>
          <a:p>
            <a:pPr indent="0" marL="0">
              <a:buNone/>
            </a:pPr>
            <a:r>
              <a:rPr lang="en-US" sz="900" b="1" dirty="0">
                <a:solidFill>
                  <a:srgbClr val="14A5B3"/>
                </a:solidFill>
                <a:latin typeface="Calibri" pitchFamily="34" charset="0"/>
                <a:ea typeface="Calibri" pitchFamily="34" charset="-122"/>
                <a:cs typeface="Calibri" pitchFamily="34" charset="-120"/>
              </a:rPr>
              <a:t>High Value →</a:t>
            </a:r>
            <a:endParaRPr lang="en-US" sz="900" dirty="0"/>
          </a:p>
        </p:txBody>
      </p:sp>
      <p:sp>
        <p:nvSpPr>
          <p:cNvPr id="43" name="Text 39"/>
          <p:cNvSpPr/>
          <p:nvPr/>
        </p:nvSpPr>
        <p:spPr>
          <a:xfrm>
            <a:off x="6080760" y="3547872"/>
            <a:ext cx="2697480" cy="237744"/>
          </a:xfrm>
          <a:prstGeom prst="rect">
            <a:avLst/>
          </a:prstGeom>
          <a:noFill/>
          <a:ln/>
        </p:spPr>
        <p:txBody>
          <a:bodyPr wrap="square" lIns="0" tIns="0" rIns="0" bIns="0" rtlCol="0" anchor="ctr"/>
          <a:lstStyle/>
          <a:p>
            <a:pPr indent="0" marL="0">
              <a:buNone/>
            </a:pPr>
            <a:r>
              <a:rPr lang="en-US" sz="900" dirty="0">
                <a:solidFill>
                  <a:srgbClr val="D0E8F0"/>
                </a:solidFill>
                <a:latin typeface="Calibri" pitchFamily="34" charset="0"/>
                <a:ea typeface="Calibri" pitchFamily="34" charset="-122"/>
                <a:cs typeface="Calibri" pitchFamily="34" charset="-120"/>
              </a:rPr>
              <a:t>VIP loyalty program + personalized cross-sells</a:t>
            </a:r>
            <a:endParaRPr lang="en-US" sz="900" dirty="0"/>
          </a:p>
        </p:txBody>
      </p:sp>
      <p:sp>
        <p:nvSpPr>
          <p:cNvPr id="44" name="Text 40"/>
          <p:cNvSpPr/>
          <p:nvPr/>
        </p:nvSpPr>
        <p:spPr>
          <a:xfrm>
            <a:off x="4754880" y="3849624"/>
            <a:ext cx="1371600" cy="237744"/>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One-time →</a:t>
            </a:r>
            <a:endParaRPr lang="en-US" sz="900" dirty="0"/>
          </a:p>
        </p:txBody>
      </p:sp>
      <p:sp>
        <p:nvSpPr>
          <p:cNvPr id="45" name="Text 41"/>
          <p:cNvSpPr/>
          <p:nvPr/>
        </p:nvSpPr>
        <p:spPr>
          <a:xfrm>
            <a:off x="6080760" y="3849624"/>
            <a:ext cx="2697480" cy="237744"/>
          </a:xfrm>
          <a:prstGeom prst="rect">
            <a:avLst/>
          </a:prstGeom>
          <a:noFill/>
          <a:ln/>
        </p:spPr>
        <p:txBody>
          <a:bodyPr wrap="square" lIns="0" tIns="0" rIns="0" bIns="0" rtlCol="0" anchor="ctr"/>
          <a:lstStyle/>
          <a:p>
            <a:pPr indent="0" marL="0">
              <a:buNone/>
            </a:pPr>
            <a:r>
              <a:rPr lang="en-US" sz="900" dirty="0">
                <a:solidFill>
                  <a:srgbClr val="D0E8F0"/>
                </a:solidFill>
                <a:latin typeface="Calibri" pitchFamily="34" charset="0"/>
                <a:ea typeface="Calibri" pitchFamily="34" charset="-122"/>
                <a:cs typeface="Calibri" pitchFamily="34" charset="-120"/>
              </a:rPr>
              <a:t>3-email post-purchase sequence + 2nd-buy discount</a:t>
            </a:r>
            <a:endParaRPr lang="en-US" sz="900" dirty="0"/>
          </a:p>
        </p:txBody>
      </p:sp>
      <p:sp>
        <p:nvSpPr>
          <p:cNvPr id="46" name="Text 42"/>
          <p:cNvSpPr/>
          <p:nvPr/>
        </p:nvSpPr>
        <p:spPr>
          <a:xfrm>
            <a:off x="4754880" y="4151376"/>
            <a:ext cx="1371600" cy="237744"/>
          </a:xfrm>
          <a:prstGeom prst="rect">
            <a:avLst/>
          </a:prstGeom>
          <a:noFill/>
          <a:ln/>
        </p:spPr>
        <p:txBody>
          <a:bodyPr wrap="square" lIns="0" tIns="0" rIns="0" bIns="0" rtlCol="0" anchor="ctr"/>
          <a:lstStyle/>
          <a:p>
            <a:pPr indent="0" marL="0">
              <a:buNone/>
            </a:pPr>
            <a:r>
              <a:rPr lang="en-US" sz="900" b="1" dirty="0">
                <a:solidFill>
                  <a:srgbClr val="A8E6EC"/>
                </a:solidFill>
                <a:latin typeface="Calibri" pitchFamily="34" charset="0"/>
                <a:ea typeface="Calibri" pitchFamily="34" charset="-122"/>
                <a:cs typeface="Calibri" pitchFamily="34" charset="-120"/>
              </a:rPr>
              <a:t>Low Value →</a:t>
            </a:r>
            <a:endParaRPr lang="en-US" sz="900" dirty="0"/>
          </a:p>
        </p:txBody>
      </p:sp>
      <p:sp>
        <p:nvSpPr>
          <p:cNvPr id="47" name="Text 43"/>
          <p:cNvSpPr/>
          <p:nvPr/>
        </p:nvSpPr>
        <p:spPr>
          <a:xfrm>
            <a:off x="6080760" y="4151376"/>
            <a:ext cx="2697480" cy="237744"/>
          </a:xfrm>
          <a:prstGeom prst="rect">
            <a:avLst/>
          </a:prstGeom>
          <a:noFill/>
          <a:ln/>
        </p:spPr>
        <p:txBody>
          <a:bodyPr wrap="square" lIns="0" tIns="0" rIns="0" bIns="0" rtlCol="0" anchor="ctr"/>
          <a:lstStyle/>
          <a:p>
            <a:pPr indent="0" marL="0">
              <a:buNone/>
            </a:pPr>
            <a:r>
              <a:rPr lang="en-US" sz="900" dirty="0">
                <a:solidFill>
                  <a:srgbClr val="D0E8F0"/>
                </a:solidFill>
                <a:latin typeface="Calibri" pitchFamily="34" charset="0"/>
                <a:ea typeface="Calibri" pitchFamily="34" charset="-122"/>
                <a:cs typeface="Calibri" pitchFamily="34" charset="-120"/>
              </a:rPr>
              <a:t>Bundle deals, free-shipping thresholds</a:t>
            </a:r>
            <a:endParaRPr lang="en-US" sz="900" dirty="0"/>
          </a:p>
        </p:txBody>
      </p:sp>
      <p:sp>
        <p:nvSpPr>
          <p:cNvPr id="48" name="Text 44"/>
          <p:cNvSpPr/>
          <p:nvPr/>
        </p:nvSpPr>
        <p:spPr>
          <a:xfrm>
            <a:off x="4754880" y="4453128"/>
            <a:ext cx="1371600" cy="237744"/>
          </a:xfrm>
          <a:prstGeom prst="rect">
            <a:avLst/>
          </a:prstGeom>
          <a:noFill/>
          <a:ln/>
        </p:spPr>
        <p:txBody>
          <a:bodyPr wrap="square" lIns="0" tIns="0" rIns="0" bIns="0"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Freq. Low →</a:t>
            </a:r>
            <a:endParaRPr lang="en-US" sz="900" dirty="0"/>
          </a:p>
        </p:txBody>
      </p:sp>
      <p:sp>
        <p:nvSpPr>
          <p:cNvPr id="49" name="Text 45"/>
          <p:cNvSpPr/>
          <p:nvPr/>
        </p:nvSpPr>
        <p:spPr>
          <a:xfrm>
            <a:off x="6080760" y="4453128"/>
            <a:ext cx="2697480" cy="237744"/>
          </a:xfrm>
          <a:prstGeom prst="rect">
            <a:avLst/>
          </a:prstGeom>
          <a:noFill/>
          <a:ln/>
        </p:spPr>
        <p:txBody>
          <a:bodyPr wrap="square" lIns="0" tIns="0" rIns="0" bIns="0" rtlCol="0" anchor="ctr"/>
          <a:lstStyle/>
          <a:p>
            <a:pPr indent="0" marL="0">
              <a:buNone/>
            </a:pPr>
            <a:r>
              <a:rPr lang="en-US" sz="900" dirty="0">
                <a:solidFill>
                  <a:srgbClr val="D0E8F0"/>
                </a:solidFill>
                <a:latin typeface="Calibri" pitchFamily="34" charset="0"/>
                <a:ea typeface="Calibri" pitchFamily="34" charset="-122"/>
                <a:cs typeface="Calibri" pitchFamily="34" charset="-120"/>
              </a:rPr>
              <a:t>Upsell to premium lines, subscription offers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7C86"/>
          </a:solidFill>
          <a:ln w="12700">
            <a:solidFill>
              <a:srgbClr val="0E7C86"/>
            </a:solidFill>
            <a:prstDash val="solid"/>
          </a:ln>
        </p:spPr>
      </p:sp>
      <p:sp>
        <p:nvSpPr>
          <p:cNvPr id="3" name="Text 1"/>
          <p:cNvSpPr/>
          <p:nvPr/>
        </p:nvSpPr>
        <p:spPr>
          <a:xfrm>
            <a:off x="7772400" y="109728"/>
            <a:ext cx="128016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03 / 04</a:t>
            </a:r>
            <a:endParaRPr lang="en-US" sz="900" dirty="0"/>
          </a:p>
        </p:txBody>
      </p:sp>
      <p:sp>
        <p:nvSpPr>
          <p:cNvPr id="4" name="Shape 2"/>
          <p:cNvSpPr/>
          <p:nvPr/>
        </p:nvSpPr>
        <p:spPr>
          <a:xfrm>
            <a:off x="0" y="4983480"/>
            <a:ext cx="9144000" cy="164592"/>
          </a:xfrm>
          <a:prstGeom prst="rect">
            <a:avLst/>
          </a:prstGeom>
          <a:solidFill>
            <a:srgbClr val="0D1B4B"/>
          </a:solidFill>
          <a:ln w="12700">
            <a:solidFill>
              <a:srgbClr val="0D1B4B"/>
            </a:solidFill>
            <a:prstDash val="solid"/>
          </a:ln>
        </p:spPr>
      </p:sp>
      <p:sp>
        <p:nvSpPr>
          <p:cNvPr id="5" name="Text 3"/>
          <p:cNvSpPr/>
          <p:nvPr/>
        </p:nvSpPr>
        <p:spPr>
          <a:xfrm>
            <a:off x="274320" y="4983480"/>
            <a:ext cx="8595360" cy="164592"/>
          </a:xfrm>
          <a:prstGeom prst="rect">
            <a:avLst/>
          </a:prstGeom>
          <a:noFill/>
          <a:ln/>
        </p:spPr>
        <p:txBody>
          <a:bodyPr wrap="square" rtlCol="0" anchor="ctr"/>
          <a:lstStyle/>
          <a:p>
            <a:pPr algn="l" indent="0" marL="0">
              <a:buNone/>
            </a:pPr>
            <a:r>
              <a:rPr lang="en-US" sz="750" dirty="0">
                <a:solidFill>
                  <a:srgbClr val="AABBCC"/>
                </a:solidFill>
                <a:latin typeface="Calibri" pitchFamily="34" charset="0"/>
                <a:ea typeface="Calibri" pitchFamily="34" charset="-122"/>
                <a:cs typeface="Calibri" pitchFamily="34" charset="-120"/>
              </a:rPr>
              <a:t>Thuy Nguyen  ·  Online Retail CLV &amp; Segmentation Analysis  ·  University of Michigan-Flint</a:t>
            </a:r>
            <a:endParaRPr lang="en-US" sz="750" dirty="0"/>
          </a:p>
        </p:txBody>
      </p:sp>
      <p:sp>
        <p:nvSpPr>
          <p:cNvPr id="6" name="Text 4"/>
          <p:cNvSpPr/>
          <p:nvPr/>
        </p:nvSpPr>
        <p:spPr>
          <a:xfrm>
            <a:off x="274320" y="109728"/>
            <a:ext cx="8595360" cy="411480"/>
          </a:xfrm>
          <a:prstGeom prst="rect">
            <a:avLst/>
          </a:prstGeom>
          <a:noFill/>
          <a:ln/>
        </p:spPr>
        <p:txBody>
          <a:bodyPr wrap="square" rtlCol="0" anchor="ctr"/>
          <a:lstStyle/>
          <a:p>
            <a:pPr indent="0" marL="0">
              <a:buNone/>
            </a:pPr>
            <a:r>
              <a:rPr lang="en-US" sz="2200" b="1" dirty="0">
                <a:solidFill>
                  <a:srgbClr val="0D1B4B"/>
                </a:solidFill>
                <a:latin typeface="Calibri" pitchFamily="34" charset="0"/>
                <a:ea typeface="Calibri" pitchFamily="34" charset="-122"/>
                <a:cs typeface="Calibri" pitchFamily="34" charset="-120"/>
              </a:rPr>
              <a:t>What the Data Surprised Me With</a:t>
            </a:r>
            <a:endParaRPr lang="en-US" sz="2200" dirty="0"/>
          </a:p>
        </p:txBody>
      </p:sp>
      <p:sp>
        <p:nvSpPr>
          <p:cNvPr id="7" name="Text 5"/>
          <p:cNvSpPr/>
          <p:nvPr/>
        </p:nvSpPr>
        <p:spPr>
          <a:xfrm>
            <a:off x="274320" y="530352"/>
            <a:ext cx="8595360" cy="219456"/>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Three unexpected discoveries that only appeared after deep-diving the data</a:t>
            </a:r>
            <a:endParaRPr lang="en-US" sz="1100" dirty="0"/>
          </a:p>
        </p:txBody>
      </p:sp>
      <p:sp>
        <p:nvSpPr>
          <p:cNvPr id="8" name="Shape 6"/>
          <p:cNvSpPr/>
          <p:nvPr/>
        </p:nvSpPr>
        <p:spPr>
          <a:xfrm>
            <a:off x="274320" y="868680"/>
            <a:ext cx="2834640" cy="30175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9" name="Shape 7"/>
          <p:cNvSpPr/>
          <p:nvPr/>
        </p:nvSpPr>
        <p:spPr>
          <a:xfrm>
            <a:off x="274320" y="868680"/>
            <a:ext cx="2834640" cy="73152"/>
          </a:xfrm>
          <a:prstGeom prst="rect">
            <a:avLst/>
          </a:prstGeom>
          <a:solidFill>
            <a:srgbClr val="0E7C86"/>
          </a:solidFill>
          <a:ln w="12700">
            <a:solidFill>
              <a:srgbClr val="0E7C86"/>
            </a:solidFill>
            <a:prstDash val="solid"/>
          </a:ln>
        </p:spPr>
      </p:sp>
      <p:sp>
        <p:nvSpPr>
          <p:cNvPr id="10" name="Text 8"/>
          <p:cNvSpPr/>
          <p:nvPr/>
        </p:nvSpPr>
        <p:spPr>
          <a:xfrm>
            <a:off x="274320" y="987552"/>
            <a:ext cx="2834640" cy="457200"/>
          </a:xfrm>
          <a:prstGeom prst="rect">
            <a:avLst/>
          </a:prstGeom>
          <a:noFill/>
          <a:ln/>
        </p:spPr>
        <p:txBody>
          <a:bodyPr wrap="square" lIns="0" tIns="0" rIns="0" bIns="0" rtlCol="0" anchor="ctr"/>
          <a:lstStyle/>
          <a:p>
            <a:pPr algn="ctr" indent="0" marL="0">
              <a:buNone/>
            </a:pPr>
            <a:r>
              <a:rPr lang="en-US" sz="3600" b="1" dirty="0">
                <a:solidFill>
                  <a:srgbClr val="0E7C86"/>
                </a:solidFill>
                <a:latin typeface="Calibri" pitchFamily="34" charset="0"/>
                <a:ea typeface="Calibri" pitchFamily="34" charset="-122"/>
                <a:cs typeface="Calibri" pitchFamily="34" charset="-120"/>
              </a:rPr>
              <a:t>01</a:t>
            </a:r>
            <a:endParaRPr lang="en-US" sz="3600" dirty="0"/>
          </a:p>
        </p:txBody>
      </p:sp>
      <p:sp>
        <p:nvSpPr>
          <p:cNvPr id="11" name="Text 9"/>
          <p:cNvSpPr/>
          <p:nvPr/>
        </p:nvSpPr>
        <p:spPr>
          <a:xfrm>
            <a:off x="411480" y="1508760"/>
            <a:ext cx="2560320" cy="320040"/>
          </a:xfrm>
          <a:prstGeom prst="rect">
            <a:avLst/>
          </a:prstGeom>
          <a:noFill/>
          <a:ln/>
        </p:spPr>
        <p:txBody>
          <a:bodyPr wrap="square" lIns="0" tIns="0" rIns="0" bIns="0" rtlCol="0" anchor="ctr"/>
          <a:lstStyle/>
          <a:p>
            <a:pPr indent="0" marL="0">
              <a:buNone/>
            </a:pPr>
            <a:r>
              <a:rPr lang="en-US" sz="1300" b="1" dirty="0">
                <a:solidFill>
                  <a:srgbClr val="0D1B4B"/>
                </a:solidFill>
                <a:latin typeface="Calibri" pitchFamily="34" charset="0"/>
                <a:ea typeface="Calibri" pitchFamily="34" charset="-122"/>
                <a:cs typeface="Calibri" pitchFamily="34" charset="-120"/>
              </a:rPr>
              <a:t>Duplicates ≠ Errors</a:t>
            </a:r>
            <a:endParaRPr lang="en-US" sz="1300" dirty="0"/>
          </a:p>
        </p:txBody>
      </p:sp>
      <p:sp>
        <p:nvSpPr>
          <p:cNvPr id="12" name="Shape 10"/>
          <p:cNvSpPr/>
          <p:nvPr/>
        </p:nvSpPr>
        <p:spPr>
          <a:xfrm>
            <a:off x="411480" y="1865376"/>
            <a:ext cx="2560320" cy="27432"/>
          </a:xfrm>
          <a:prstGeom prst="rect">
            <a:avLst/>
          </a:prstGeom>
          <a:solidFill>
            <a:srgbClr val="E2E8F0"/>
          </a:solidFill>
          <a:ln w="12700">
            <a:solidFill>
              <a:srgbClr val="E2E8F0"/>
            </a:solidFill>
            <a:prstDash val="solid"/>
          </a:ln>
        </p:spPr>
      </p:sp>
      <p:sp>
        <p:nvSpPr>
          <p:cNvPr id="13" name="Text 11"/>
          <p:cNvSpPr/>
          <p:nvPr/>
        </p:nvSpPr>
        <p:spPr>
          <a:xfrm>
            <a:off x="411480" y="1938528"/>
            <a:ext cx="2560320" cy="1828800"/>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34,335 rows were exact duplicates — but 11,612 partial duplicates (same invoice + product, different price) turned out to be tiered pricing and bulk discounts, not errors. Deleting them would have erased real business behavior.</a:t>
            </a:r>
            <a:endParaRPr lang="en-US" sz="1000" dirty="0"/>
          </a:p>
        </p:txBody>
      </p:sp>
      <p:sp>
        <p:nvSpPr>
          <p:cNvPr id="14" name="Shape 12"/>
          <p:cNvSpPr/>
          <p:nvPr/>
        </p:nvSpPr>
        <p:spPr>
          <a:xfrm>
            <a:off x="3227832" y="868680"/>
            <a:ext cx="2834640" cy="30175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5" name="Shape 13"/>
          <p:cNvSpPr/>
          <p:nvPr/>
        </p:nvSpPr>
        <p:spPr>
          <a:xfrm>
            <a:off x="3227832" y="868680"/>
            <a:ext cx="2834640" cy="73152"/>
          </a:xfrm>
          <a:prstGeom prst="rect">
            <a:avLst/>
          </a:prstGeom>
          <a:solidFill>
            <a:srgbClr val="F59E0B"/>
          </a:solidFill>
          <a:ln w="12700">
            <a:solidFill>
              <a:srgbClr val="F59E0B"/>
            </a:solidFill>
            <a:prstDash val="solid"/>
          </a:ln>
        </p:spPr>
      </p:sp>
      <p:sp>
        <p:nvSpPr>
          <p:cNvPr id="16" name="Text 14"/>
          <p:cNvSpPr/>
          <p:nvPr/>
        </p:nvSpPr>
        <p:spPr>
          <a:xfrm>
            <a:off x="3227832" y="987552"/>
            <a:ext cx="2834640" cy="457200"/>
          </a:xfrm>
          <a:prstGeom prst="rect">
            <a:avLst/>
          </a:prstGeom>
          <a:noFill/>
          <a:ln/>
        </p:spPr>
        <p:txBody>
          <a:bodyPr wrap="square" lIns="0" tIns="0" rIns="0" bIns="0" rtlCol="0" anchor="ctr"/>
          <a:lstStyle/>
          <a:p>
            <a:pPr algn="ctr" indent="0" marL="0">
              <a:buNone/>
            </a:pPr>
            <a:r>
              <a:rPr lang="en-US" sz="3600" b="1" dirty="0">
                <a:solidFill>
                  <a:srgbClr val="F59E0B"/>
                </a:solidFill>
                <a:latin typeface="Calibri" pitchFamily="34" charset="0"/>
                <a:ea typeface="Calibri" pitchFamily="34" charset="-122"/>
                <a:cs typeface="Calibri" pitchFamily="34" charset="-120"/>
              </a:rPr>
              <a:t>02</a:t>
            </a:r>
            <a:endParaRPr lang="en-US" sz="3600" dirty="0"/>
          </a:p>
        </p:txBody>
      </p:sp>
      <p:sp>
        <p:nvSpPr>
          <p:cNvPr id="17" name="Text 15"/>
          <p:cNvSpPr/>
          <p:nvPr/>
        </p:nvSpPr>
        <p:spPr>
          <a:xfrm>
            <a:off x="3364992" y="1508760"/>
            <a:ext cx="2560320" cy="320040"/>
          </a:xfrm>
          <a:prstGeom prst="rect">
            <a:avLst/>
          </a:prstGeom>
          <a:noFill/>
          <a:ln/>
        </p:spPr>
        <p:txBody>
          <a:bodyPr wrap="square" lIns="0" tIns="0" rIns="0" bIns="0" rtlCol="0" anchor="ctr"/>
          <a:lstStyle/>
          <a:p>
            <a:pPr indent="0" marL="0">
              <a:buNone/>
            </a:pPr>
            <a:r>
              <a:rPr lang="en-US" sz="1300" b="1" dirty="0">
                <a:solidFill>
                  <a:srgbClr val="0D1B4B"/>
                </a:solidFill>
                <a:latin typeface="Calibri" pitchFamily="34" charset="0"/>
                <a:ea typeface="Calibri" pitchFamily="34" charset="-122"/>
                <a:cs typeface="Calibri" pitchFamily="34" charset="-120"/>
              </a:rPr>
              <a:t>The 20% Rule Held</a:t>
            </a:r>
            <a:endParaRPr lang="en-US" sz="1300" dirty="0"/>
          </a:p>
        </p:txBody>
      </p:sp>
      <p:sp>
        <p:nvSpPr>
          <p:cNvPr id="18" name="Shape 16"/>
          <p:cNvSpPr/>
          <p:nvPr/>
        </p:nvSpPr>
        <p:spPr>
          <a:xfrm>
            <a:off x="3364992" y="1865376"/>
            <a:ext cx="2560320" cy="27432"/>
          </a:xfrm>
          <a:prstGeom prst="rect">
            <a:avLst/>
          </a:prstGeom>
          <a:solidFill>
            <a:srgbClr val="E2E8F0"/>
          </a:solidFill>
          <a:ln w="12700">
            <a:solidFill>
              <a:srgbClr val="E2E8F0"/>
            </a:solidFill>
            <a:prstDash val="solid"/>
          </a:ln>
        </p:spPr>
      </p:sp>
      <p:sp>
        <p:nvSpPr>
          <p:cNvPr id="19" name="Text 17"/>
          <p:cNvSpPr/>
          <p:nvPr/>
        </p:nvSpPr>
        <p:spPr>
          <a:xfrm>
            <a:off x="3364992" y="1938528"/>
            <a:ext cx="2560320" cy="1828800"/>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Without assumptions, the data confirmed: just 19.9% of customers generated 77.1% of total revenue. High Value customers don't just buy more often — they also spend £471 per visit vs the average of £231.</a:t>
            </a:r>
            <a:endParaRPr lang="en-US" sz="1000" dirty="0"/>
          </a:p>
        </p:txBody>
      </p:sp>
      <p:sp>
        <p:nvSpPr>
          <p:cNvPr id="20" name="Shape 18"/>
          <p:cNvSpPr/>
          <p:nvPr/>
        </p:nvSpPr>
        <p:spPr>
          <a:xfrm>
            <a:off x="6181344" y="868680"/>
            <a:ext cx="2834640" cy="30175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1" name="Shape 19"/>
          <p:cNvSpPr/>
          <p:nvPr/>
        </p:nvSpPr>
        <p:spPr>
          <a:xfrm>
            <a:off x="6181344" y="868680"/>
            <a:ext cx="2834640" cy="73152"/>
          </a:xfrm>
          <a:prstGeom prst="rect">
            <a:avLst/>
          </a:prstGeom>
          <a:solidFill>
            <a:srgbClr val="10B981"/>
          </a:solidFill>
          <a:ln w="12700">
            <a:solidFill>
              <a:srgbClr val="10B981"/>
            </a:solidFill>
            <a:prstDash val="solid"/>
          </a:ln>
        </p:spPr>
      </p:sp>
      <p:sp>
        <p:nvSpPr>
          <p:cNvPr id="22" name="Text 20"/>
          <p:cNvSpPr/>
          <p:nvPr/>
        </p:nvSpPr>
        <p:spPr>
          <a:xfrm>
            <a:off x="6181344" y="987552"/>
            <a:ext cx="2834640" cy="457200"/>
          </a:xfrm>
          <a:prstGeom prst="rect">
            <a:avLst/>
          </a:prstGeom>
          <a:noFill/>
          <a:ln/>
        </p:spPr>
        <p:txBody>
          <a:bodyPr wrap="square" lIns="0" tIns="0" rIns="0" bIns="0" rtlCol="0" anchor="ctr"/>
          <a:lstStyle/>
          <a:p>
            <a:pPr algn="ctr" indent="0" marL="0">
              <a:buNone/>
            </a:pPr>
            <a:r>
              <a:rPr lang="en-US" sz="3600" b="1" dirty="0">
                <a:solidFill>
                  <a:srgbClr val="10B981"/>
                </a:solidFill>
                <a:latin typeface="Calibri" pitchFamily="34" charset="0"/>
                <a:ea typeface="Calibri" pitchFamily="34" charset="-122"/>
                <a:cs typeface="Calibri" pitchFamily="34" charset="-120"/>
              </a:rPr>
              <a:t>03</a:t>
            </a:r>
            <a:endParaRPr lang="en-US" sz="3600" dirty="0"/>
          </a:p>
        </p:txBody>
      </p:sp>
      <p:sp>
        <p:nvSpPr>
          <p:cNvPr id="23" name="Text 21"/>
          <p:cNvSpPr/>
          <p:nvPr/>
        </p:nvSpPr>
        <p:spPr>
          <a:xfrm>
            <a:off x="6318504" y="1508760"/>
            <a:ext cx="2560320" cy="320040"/>
          </a:xfrm>
          <a:prstGeom prst="rect">
            <a:avLst/>
          </a:prstGeom>
          <a:noFill/>
          <a:ln/>
        </p:spPr>
        <p:txBody>
          <a:bodyPr wrap="square" lIns="0" tIns="0" rIns="0" bIns="0" rtlCol="0" anchor="ctr"/>
          <a:lstStyle/>
          <a:p>
            <a:pPr indent="0" marL="0">
              <a:buNone/>
            </a:pPr>
            <a:r>
              <a:rPr lang="en-US" sz="1300" b="1" dirty="0">
                <a:solidFill>
                  <a:srgbClr val="0D1B4B"/>
                </a:solidFill>
                <a:latin typeface="Calibri" pitchFamily="34" charset="0"/>
                <a:ea typeface="Calibri" pitchFamily="34" charset="-122"/>
                <a:cs typeface="Calibri" pitchFamily="34" charset="-120"/>
              </a:rPr>
              <a:t>November = Everything</a:t>
            </a:r>
            <a:endParaRPr lang="en-US" sz="1300" dirty="0"/>
          </a:p>
        </p:txBody>
      </p:sp>
      <p:sp>
        <p:nvSpPr>
          <p:cNvPr id="24" name="Shape 22"/>
          <p:cNvSpPr/>
          <p:nvPr/>
        </p:nvSpPr>
        <p:spPr>
          <a:xfrm>
            <a:off x="6318504" y="1865376"/>
            <a:ext cx="2560320" cy="27432"/>
          </a:xfrm>
          <a:prstGeom prst="rect">
            <a:avLst/>
          </a:prstGeom>
          <a:solidFill>
            <a:srgbClr val="E2E8F0"/>
          </a:solidFill>
          <a:ln w="12700">
            <a:solidFill>
              <a:srgbClr val="E2E8F0"/>
            </a:solidFill>
            <a:prstDash val="solid"/>
          </a:ln>
        </p:spPr>
      </p:sp>
      <p:sp>
        <p:nvSpPr>
          <p:cNvPr id="25" name="Text 23"/>
          <p:cNvSpPr/>
          <p:nvPr/>
        </p:nvSpPr>
        <p:spPr>
          <a:xfrm>
            <a:off x="6318504" y="1938528"/>
            <a:ext cx="2560320" cy="1828800"/>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Every segment spiked in November — not December. For a giftware retailer, the buying decision happens before December arrives. This means campaigns should launch in late September, not December.</a:t>
            </a:r>
            <a:endParaRPr lang="en-US" sz="1000" dirty="0"/>
          </a:p>
        </p:txBody>
      </p:sp>
      <p:sp>
        <p:nvSpPr>
          <p:cNvPr id="26" name="Shape 24"/>
          <p:cNvSpPr/>
          <p:nvPr/>
        </p:nvSpPr>
        <p:spPr>
          <a:xfrm>
            <a:off x="274320" y="4005072"/>
            <a:ext cx="8595360" cy="822960"/>
          </a:xfrm>
          <a:prstGeom prst="rect">
            <a:avLst/>
          </a:prstGeom>
          <a:solidFill>
            <a:srgbClr val="0D1B4B"/>
          </a:solidFill>
          <a:ln w="12700">
            <a:solidFill>
              <a:srgbClr val="0D1B4B"/>
            </a:solidFill>
            <a:prstDash val="solid"/>
          </a:ln>
          <a:effectLst>
            <a:outerShdw sx="100000" sy="100000" kx="0" ky="0" algn="bl" rotWithShape="0" blurRad="101600" dist="38100" dir="8100000">
              <a:srgbClr val="000000">
                <a:alpha val="10000"/>
              </a:srgbClr>
            </a:outerShdw>
          </a:effectLst>
        </p:spPr>
      </p:sp>
      <p:sp>
        <p:nvSpPr>
          <p:cNvPr id="27" name="Text 25"/>
          <p:cNvSpPr/>
          <p:nvPr/>
        </p:nvSpPr>
        <p:spPr>
          <a:xfrm>
            <a:off x="457200" y="4069080"/>
            <a:ext cx="1828800" cy="228600"/>
          </a:xfrm>
          <a:prstGeom prst="rect">
            <a:avLst/>
          </a:prstGeom>
          <a:noFill/>
          <a:ln/>
        </p:spPr>
        <p:txBody>
          <a:bodyPr wrap="square" lIns="0" tIns="0" rIns="0" bIns="0" rtlCol="0" anchor="ctr"/>
          <a:lstStyle/>
          <a:p>
            <a:pPr indent="0" marL="0">
              <a:buNone/>
            </a:pPr>
            <a:r>
              <a:rPr lang="en-US" sz="1100" b="1" dirty="0">
                <a:solidFill>
                  <a:srgbClr val="14A5B3"/>
                </a:solidFill>
                <a:latin typeface="Calibri" pitchFamily="34" charset="0"/>
                <a:ea typeface="Calibri" pitchFamily="34" charset="-122"/>
                <a:cs typeface="Calibri" pitchFamily="34" charset="-120"/>
              </a:rPr>
              <a:t>Why This Matters</a:t>
            </a:r>
            <a:endParaRPr lang="en-US" sz="1100" dirty="0"/>
          </a:p>
        </p:txBody>
      </p:sp>
      <p:sp>
        <p:nvSpPr>
          <p:cNvPr id="28" name="Text 26"/>
          <p:cNvSpPr/>
          <p:nvPr/>
        </p:nvSpPr>
        <p:spPr>
          <a:xfrm>
            <a:off x="457200" y="4315968"/>
            <a:ext cx="8321040" cy="438912"/>
          </a:xfrm>
          <a:prstGeom prst="rect">
            <a:avLst/>
          </a:prstGeom>
          <a:noFill/>
          <a:ln/>
        </p:spPr>
        <p:txBody>
          <a:bodyPr wrap="square" rtlCol="0" anchor="t"/>
          <a:lstStyle/>
          <a:p>
            <a:pPr indent="0" marL="0">
              <a:buNone/>
            </a:pPr>
            <a:r>
              <a:rPr lang="en-US" sz="950" dirty="0">
                <a:solidFill>
                  <a:srgbClr val="C8D8E8"/>
                </a:solidFill>
                <a:latin typeface="Calibri" pitchFamily="34" charset="0"/>
                <a:ea typeface="Calibri" pitchFamily="34" charset="-122"/>
                <a:cs typeface="Calibri" pitchFamily="34" charset="-120"/>
              </a:rPr>
              <a:t>None of these insights were visible in the raw data. They only emerged after systematic cleaning, aggregation, and the decision to question assumptions rather than accept the data at face value. This is the value of working analytically — not just running queries, but asking why.</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4B"/>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7C86"/>
          </a:solidFill>
          <a:ln w="12700">
            <a:solidFill>
              <a:srgbClr val="0E7C86"/>
            </a:solidFill>
            <a:prstDash val="solid"/>
          </a:ln>
        </p:spPr>
      </p:sp>
      <p:sp>
        <p:nvSpPr>
          <p:cNvPr id="3" name="Text 1"/>
          <p:cNvSpPr/>
          <p:nvPr/>
        </p:nvSpPr>
        <p:spPr>
          <a:xfrm>
            <a:off x="7772400" y="109728"/>
            <a:ext cx="128016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04 / 04</a:t>
            </a:r>
            <a:endParaRPr lang="en-US" sz="900" dirty="0"/>
          </a:p>
        </p:txBody>
      </p:sp>
      <p:sp>
        <p:nvSpPr>
          <p:cNvPr id="4" name="Shape 2"/>
          <p:cNvSpPr/>
          <p:nvPr/>
        </p:nvSpPr>
        <p:spPr>
          <a:xfrm>
            <a:off x="0" y="0"/>
            <a:ext cx="9144000" cy="73152"/>
          </a:xfrm>
          <a:prstGeom prst="rect">
            <a:avLst/>
          </a:prstGeom>
          <a:solidFill>
            <a:srgbClr val="0E7C86"/>
          </a:solidFill>
          <a:ln w="12700">
            <a:solidFill>
              <a:srgbClr val="0E7C86"/>
            </a:solidFill>
            <a:prstDash val="solid"/>
          </a:ln>
        </p:spPr>
      </p:sp>
      <p:sp>
        <p:nvSpPr>
          <p:cNvPr id="5" name="Text 3"/>
          <p:cNvSpPr/>
          <p:nvPr/>
        </p:nvSpPr>
        <p:spPr>
          <a:xfrm>
            <a:off x="7772400" y="109728"/>
            <a:ext cx="1280160" cy="228600"/>
          </a:xfrm>
          <a:prstGeom prst="rect">
            <a:avLst/>
          </a:prstGeom>
          <a:noFill/>
          <a:ln/>
        </p:spPr>
        <p:txBody>
          <a:bodyPr wrap="square" rtlCol="0" anchor="ctr"/>
          <a:lstStyle/>
          <a:p>
            <a:pPr algn="r" indent="0" marL="0">
              <a:buNone/>
            </a:pPr>
            <a:r>
              <a:rPr lang="en-US" sz="900" dirty="0">
                <a:solidFill>
                  <a:srgbClr val="7A9FBB"/>
                </a:solidFill>
                <a:latin typeface="Calibri" pitchFamily="34" charset="0"/>
                <a:ea typeface="Calibri" pitchFamily="34" charset="-122"/>
                <a:cs typeface="Calibri" pitchFamily="34" charset="-120"/>
              </a:rPr>
              <a:t>04 / 04</a:t>
            </a:r>
            <a:endParaRPr lang="en-US" sz="900" dirty="0"/>
          </a:p>
        </p:txBody>
      </p:sp>
      <p:sp>
        <p:nvSpPr>
          <p:cNvPr id="6" name="Text 4"/>
          <p:cNvSpPr/>
          <p:nvPr/>
        </p:nvSpPr>
        <p:spPr>
          <a:xfrm>
            <a:off x="365760" y="164592"/>
            <a:ext cx="8412480" cy="4572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Takeaways</a:t>
            </a:r>
            <a:endParaRPr lang="en-US" sz="2600" dirty="0"/>
          </a:p>
        </p:txBody>
      </p:sp>
      <p:sp>
        <p:nvSpPr>
          <p:cNvPr id="7" name="Text 5"/>
          <p:cNvSpPr/>
          <p:nvPr/>
        </p:nvSpPr>
        <p:spPr>
          <a:xfrm>
            <a:off x="365760" y="621792"/>
            <a:ext cx="8412480" cy="237744"/>
          </a:xfrm>
          <a:prstGeom prst="rect">
            <a:avLst/>
          </a:prstGeom>
          <a:noFill/>
          <a:ln/>
        </p:spPr>
        <p:txBody>
          <a:bodyPr wrap="square" rtlCol="0" anchor="ctr"/>
          <a:lstStyle/>
          <a:p>
            <a:pPr indent="0" marL="0">
              <a:buNone/>
            </a:pPr>
            <a:r>
              <a:rPr lang="en-US" sz="1200" dirty="0">
                <a:solidFill>
                  <a:srgbClr val="7A9FBB"/>
                </a:solidFill>
                <a:latin typeface="Calibri" pitchFamily="34" charset="0"/>
                <a:ea typeface="Calibri" pitchFamily="34" charset="-122"/>
                <a:cs typeface="Calibri" pitchFamily="34" charset="-120"/>
              </a:rPr>
              <a:t>Tools used · Skills built · How my thinking changed</a:t>
            </a:r>
            <a:endParaRPr lang="en-US" sz="1200" dirty="0"/>
          </a:p>
        </p:txBody>
      </p:sp>
      <p:sp>
        <p:nvSpPr>
          <p:cNvPr id="8" name="Shape 6"/>
          <p:cNvSpPr/>
          <p:nvPr/>
        </p:nvSpPr>
        <p:spPr>
          <a:xfrm>
            <a:off x="365760" y="960120"/>
            <a:ext cx="4023360" cy="2651760"/>
          </a:xfrm>
          <a:prstGeom prst="rect">
            <a:avLst/>
          </a:prstGeom>
          <a:solidFill>
            <a:srgbClr val="0D2444"/>
          </a:solidFill>
          <a:ln w="12700">
            <a:solidFill>
              <a:srgbClr val="1A3A6A"/>
            </a:solidFill>
            <a:prstDash val="solid"/>
          </a:ln>
        </p:spPr>
      </p:sp>
      <p:sp>
        <p:nvSpPr>
          <p:cNvPr id="9" name="Text 7"/>
          <p:cNvSpPr/>
          <p:nvPr/>
        </p:nvSpPr>
        <p:spPr>
          <a:xfrm>
            <a:off x="502920" y="1051560"/>
            <a:ext cx="3749040" cy="274320"/>
          </a:xfrm>
          <a:prstGeom prst="rect">
            <a:avLst/>
          </a:prstGeom>
          <a:noFill/>
          <a:ln/>
        </p:spPr>
        <p:txBody>
          <a:bodyPr wrap="square" lIns="0" tIns="0" rIns="0" bIns="0" rtlCol="0" anchor="ctr"/>
          <a:lstStyle/>
          <a:p>
            <a:pPr indent="0" marL="0">
              <a:buNone/>
            </a:pPr>
            <a:r>
              <a:rPr lang="en-US" sz="1300" b="1" dirty="0">
                <a:solidFill>
                  <a:srgbClr val="14A5B3"/>
                </a:solidFill>
                <a:latin typeface="Calibri" pitchFamily="34" charset="0"/>
                <a:ea typeface="Calibri" pitchFamily="34" charset="-122"/>
                <a:cs typeface="Calibri" pitchFamily="34" charset="-120"/>
              </a:rPr>
              <a:t>Tools &amp; Skills Used</a:t>
            </a:r>
            <a:endParaRPr lang="en-US" sz="1300" dirty="0"/>
          </a:p>
        </p:txBody>
      </p:sp>
      <p:sp>
        <p:nvSpPr>
          <p:cNvPr id="10" name="Shape 8"/>
          <p:cNvSpPr/>
          <p:nvPr/>
        </p:nvSpPr>
        <p:spPr>
          <a:xfrm>
            <a:off x="502920" y="1389888"/>
            <a:ext cx="45720" cy="274320"/>
          </a:xfrm>
          <a:prstGeom prst="rect">
            <a:avLst/>
          </a:prstGeom>
          <a:solidFill>
            <a:srgbClr val="14A5B3"/>
          </a:solidFill>
          <a:ln w="12700">
            <a:solidFill>
              <a:srgbClr val="14A5B3"/>
            </a:solidFill>
            <a:prstDash val="solid"/>
          </a:ln>
        </p:spPr>
      </p:sp>
      <p:sp>
        <p:nvSpPr>
          <p:cNvPr id="11" name="Text 9"/>
          <p:cNvSpPr/>
          <p:nvPr/>
        </p:nvSpPr>
        <p:spPr>
          <a:xfrm>
            <a:off x="621792" y="1389888"/>
            <a:ext cx="146304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Python / Pandas</a:t>
            </a:r>
            <a:endParaRPr lang="en-US" sz="1000" dirty="0"/>
          </a:p>
        </p:txBody>
      </p:sp>
      <p:sp>
        <p:nvSpPr>
          <p:cNvPr id="12" name="Text 10"/>
          <p:cNvSpPr/>
          <p:nvPr/>
        </p:nvSpPr>
        <p:spPr>
          <a:xfrm>
            <a:off x="621792" y="1581912"/>
            <a:ext cx="3611880" cy="182880"/>
          </a:xfrm>
          <a:prstGeom prst="rect">
            <a:avLst/>
          </a:prstGeom>
          <a:noFill/>
          <a:ln/>
        </p:spPr>
        <p:txBody>
          <a:bodyPr wrap="square" lIns="0" tIns="0" rIns="0" bIns="0" rtlCol="0" anchor="ctr"/>
          <a:lstStyle/>
          <a:p>
            <a:pPr indent="0" marL="0">
              <a:buNone/>
            </a:pPr>
            <a:r>
              <a:rPr lang="en-US" sz="850" dirty="0">
                <a:solidFill>
                  <a:srgbClr val="7A9FBB"/>
                </a:solidFill>
                <a:latin typeface="Calibri" pitchFamily="34" charset="0"/>
                <a:ea typeface="Calibri" pitchFamily="34" charset="-122"/>
                <a:cs typeface="Calibri" pitchFamily="34" charset="-120"/>
              </a:rPr>
              <a:t>Data cleaning, aggregation, RFM feature engineering</a:t>
            </a:r>
            <a:endParaRPr lang="en-US" sz="850" dirty="0"/>
          </a:p>
        </p:txBody>
      </p:sp>
      <p:sp>
        <p:nvSpPr>
          <p:cNvPr id="13" name="Shape 11"/>
          <p:cNvSpPr/>
          <p:nvPr/>
        </p:nvSpPr>
        <p:spPr>
          <a:xfrm>
            <a:off x="502920" y="1810512"/>
            <a:ext cx="45720" cy="274320"/>
          </a:xfrm>
          <a:prstGeom prst="rect">
            <a:avLst/>
          </a:prstGeom>
          <a:solidFill>
            <a:srgbClr val="14A5B3"/>
          </a:solidFill>
          <a:ln w="12700">
            <a:solidFill>
              <a:srgbClr val="14A5B3"/>
            </a:solidFill>
            <a:prstDash val="solid"/>
          </a:ln>
        </p:spPr>
      </p:sp>
      <p:sp>
        <p:nvSpPr>
          <p:cNvPr id="14" name="Text 12"/>
          <p:cNvSpPr/>
          <p:nvPr/>
        </p:nvSpPr>
        <p:spPr>
          <a:xfrm>
            <a:off x="621792" y="1810512"/>
            <a:ext cx="146304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NumPy</a:t>
            </a:r>
            <a:endParaRPr lang="en-US" sz="1000" dirty="0"/>
          </a:p>
        </p:txBody>
      </p:sp>
      <p:sp>
        <p:nvSpPr>
          <p:cNvPr id="15" name="Text 13"/>
          <p:cNvSpPr/>
          <p:nvPr/>
        </p:nvSpPr>
        <p:spPr>
          <a:xfrm>
            <a:off x="621792" y="2002536"/>
            <a:ext cx="3611880" cy="182880"/>
          </a:xfrm>
          <a:prstGeom prst="rect">
            <a:avLst/>
          </a:prstGeom>
          <a:noFill/>
          <a:ln/>
        </p:spPr>
        <p:txBody>
          <a:bodyPr wrap="square" lIns="0" tIns="0" rIns="0" bIns="0" rtlCol="0" anchor="ctr"/>
          <a:lstStyle/>
          <a:p>
            <a:pPr indent="0" marL="0">
              <a:buNone/>
            </a:pPr>
            <a:r>
              <a:rPr lang="en-US" sz="850" dirty="0">
                <a:solidFill>
                  <a:srgbClr val="7A9FBB"/>
                </a:solidFill>
                <a:latin typeface="Calibri" pitchFamily="34" charset="0"/>
                <a:ea typeface="Calibri" pitchFamily="34" charset="-122"/>
                <a:cs typeface="Calibri" pitchFamily="34" charset="-120"/>
              </a:rPr>
              <a:t>Quantile thresholds, recency calculation</a:t>
            </a:r>
            <a:endParaRPr lang="en-US" sz="850" dirty="0"/>
          </a:p>
        </p:txBody>
      </p:sp>
      <p:sp>
        <p:nvSpPr>
          <p:cNvPr id="16" name="Shape 14"/>
          <p:cNvSpPr/>
          <p:nvPr/>
        </p:nvSpPr>
        <p:spPr>
          <a:xfrm>
            <a:off x="502920" y="2231136"/>
            <a:ext cx="45720" cy="274320"/>
          </a:xfrm>
          <a:prstGeom prst="rect">
            <a:avLst/>
          </a:prstGeom>
          <a:solidFill>
            <a:srgbClr val="14A5B3"/>
          </a:solidFill>
          <a:ln w="12700">
            <a:solidFill>
              <a:srgbClr val="14A5B3"/>
            </a:solidFill>
            <a:prstDash val="solid"/>
          </a:ln>
        </p:spPr>
      </p:sp>
      <p:sp>
        <p:nvSpPr>
          <p:cNvPr id="17" name="Text 15"/>
          <p:cNvSpPr/>
          <p:nvPr/>
        </p:nvSpPr>
        <p:spPr>
          <a:xfrm>
            <a:off x="621792" y="2231136"/>
            <a:ext cx="146304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Matplotlib / Seaborn</a:t>
            </a:r>
            <a:endParaRPr lang="en-US" sz="1000" dirty="0"/>
          </a:p>
        </p:txBody>
      </p:sp>
      <p:sp>
        <p:nvSpPr>
          <p:cNvPr id="18" name="Text 16"/>
          <p:cNvSpPr/>
          <p:nvPr/>
        </p:nvSpPr>
        <p:spPr>
          <a:xfrm>
            <a:off x="621792" y="2423160"/>
            <a:ext cx="3611880" cy="182880"/>
          </a:xfrm>
          <a:prstGeom prst="rect">
            <a:avLst/>
          </a:prstGeom>
          <a:noFill/>
          <a:ln/>
        </p:spPr>
        <p:txBody>
          <a:bodyPr wrap="square" lIns="0" tIns="0" rIns="0" bIns="0" rtlCol="0" anchor="ctr"/>
          <a:lstStyle/>
          <a:p>
            <a:pPr indent="0" marL="0">
              <a:buNone/>
            </a:pPr>
            <a:r>
              <a:rPr lang="en-US" sz="850" dirty="0">
                <a:solidFill>
                  <a:srgbClr val="7A9FBB"/>
                </a:solidFill>
                <a:latin typeface="Calibri" pitchFamily="34" charset="0"/>
                <a:ea typeface="Calibri" pitchFamily="34" charset="-122"/>
                <a:cs typeface="Calibri" pitchFamily="34" charset="-120"/>
              </a:rPr>
              <a:t>Time behavior charts, segment comparison plots</a:t>
            </a:r>
            <a:endParaRPr lang="en-US" sz="850" dirty="0"/>
          </a:p>
        </p:txBody>
      </p:sp>
      <p:sp>
        <p:nvSpPr>
          <p:cNvPr id="19" name="Shape 17"/>
          <p:cNvSpPr/>
          <p:nvPr/>
        </p:nvSpPr>
        <p:spPr>
          <a:xfrm>
            <a:off x="502920" y="2651760"/>
            <a:ext cx="45720" cy="274320"/>
          </a:xfrm>
          <a:prstGeom prst="rect">
            <a:avLst/>
          </a:prstGeom>
          <a:solidFill>
            <a:srgbClr val="14A5B3"/>
          </a:solidFill>
          <a:ln w="12700">
            <a:solidFill>
              <a:srgbClr val="14A5B3"/>
            </a:solidFill>
            <a:prstDash val="solid"/>
          </a:ln>
        </p:spPr>
      </p:sp>
      <p:sp>
        <p:nvSpPr>
          <p:cNvPr id="20" name="Text 18"/>
          <p:cNvSpPr/>
          <p:nvPr/>
        </p:nvSpPr>
        <p:spPr>
          <a:xfrm>
            <a:off x="621792" y="2651760"/>
            <a:ext cx="146304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Jupyter Notebook</a:t>
            </a:r>
            <a:endParaRPr lang="en-US" sz="1000" dirty="0"/>
          </a:p>
        </p:txBody>
      </p:sp>
      <p:sp>
        <p:nvSpPr>
          <p:cNvPr id="21" name="Text 19"/>
          <p:cNvSpPr/>
          <p:nvPr/>
        </p:nvSpPr>
        <p:spPr>
          <a:xfrm>
            <a:off x="621792" y="2843784"/>
            <a:ext cx="3611880" cy="182880"/>
          </a:xfrm>
          <a:prstGeom prst="rect">
            <a:avLst/>
          </a:prstGeom>
          <a:noFill/>
          <a:ln/>
        </p:spPr>
        <p:txBody>
          <a:bodyPr wrap="square" lIns="0" tIns="0" rIns="0" bIns="0" rtlCol="0" anchor="ctr"/>
          <a:lstStyle/>
          <a:p>
            <a:pPr indent="0" marL="0">
              <a:buNone/>
            </a:pPr>
            <a:r>
              <a:rPr lang="en-US" sz="850" dirty="0">
                <a:solidFill>
                  <a:srgbClr val="7A9FBB"/>
                </a:solidFill>
                <a:latin typeface="Calibri" pitchFamily="34" charset="0"/>
                <a:ea typeface="Calibri" pitchFamily="34" charset="-122"/>
                <a:cs typeface="Calibri" pitchFamily="34" charset="-120"/>
              </a:rPr>
              <a:t>Reproducible, documented analysis pipeline</a:t>
            </a:r>
            <a:endParaRPr lang="en-US" sz="850" dirty="0"/>
          </a:p>
        </p:txBody>
      </p:sp>
      <p:sp>
        <p:nvSpPr>
          <p:cNvPr id="22" name="Shape 20"/>
          <p:cNvSpPr/>
          <p:nvPr/>
        </p:nvSpPr>
        <p:spPr>
          <a:xfrm>
            <a:off x="502920" y="3072384"/>
            <a:ext cx="45720" cy="274320"/>
          </a:xfrm>
          <a:prstGeom prst="rect">
            <a:avLst/>
          </a:prstGeom>
          <a:solidFill>
            <a:srgbClr val="14A5B3"/>
          </a:solidFill>
          <a:ln w="12700">
            <a:solidFill>
              <a:srgbClr val="14A5B3"/>
            </a:solidFill>
            <a:prstDash val="solid"/>
          </a:ln>
        </p:spPr>
      </p:sp>
      <p:sp>
        <p:nvSpPr>
          <p:cNvPr id="23" name="Text 21"/>
          <p:cNvSpPr/>
          <p:nvPr/>
        </p:nvSpPr>
        <p:spPr>
          <a:xfrm>
            <a:off x="621792" y="3072384"/>
            <a:ext cx="146304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GitHub</a:t>
            </a:r>
            <a:endParaRPr lang="en-US" sz="1000" dirty="0"/>
          </a:p>
        </p:txBody>
      </p:sp>
      <p:sp>
        <p:nvSpPr>
          <p:cNvPr id="24" name="Text 22"/>
          <p:cNvSpPr/>
          <p:nvPr/>
        </p:nvSpPr>
        <p:spPr>
          <a:xfrm>
            <a:off x="621792" y="3264408"/>
            <a:ext cx="3611880" cy="182880"/>
          </a:xfrm>
          <a:prstGeom prst="rect">
            <a:avLst/>
          </a:prstGeom>
          <a:noFill/>
          <a:ln/>
        </p:spPr>
        <p:txBody>
          <a:bodyPr wrap="square" lIns="0" tIns="0" rIns="0" bIns="0" rtlCol="0" anchor="ctr"/>
          <a:lstStyle/>
          <a:p>
            <a:pPr indent="0" marL="0">
              <a:buNone/>
            </a:pPr>
            <a:r>
              <a:rPr lang="en-US" sz="850" dirty="0">
                <a:solidFill>
                  <a:srgbClr val="7A9FBB"/>
                </a:solidFill>
                <a:latin typeface="Calibri" pitchFamily="34" charset="0"/>
                <a:ea typeface="Calibri" pitchFamily="34" charset="-122"/>
                <a:cs typeface="Calibri" pitchFamily="34" charset="-120"/>
              </a:rPr>
              <a:t>Version control, recruiter-ready project showcase</a:t>
            </a:r>
            <a:endParaRPr lang="en-US" sz="850" dirty="0"/>
          </a:p>
        </p:txBody>
      </p:sp>
      <p:sp>
        <p:nvSpPr>
          <p:cNvPr id="25" name="Shape 23"/>
          <p:cNvSpPr/>
          <p:nvPr/>
        </p:nvSpPr>
        <p:spPr>
          <a:xfrm>
            <a:off x="4754880" y="960120"/>
            <a:ext cx="4023360" cy="2651760"/>
          </a:xfrm>
          <a:prstGeom prst="rect">
            <a:avLst/>
          </a:prstGeom>
          <a:solidFill>
            <a:srgbClr val="0D2444"/>
          </a:solidFill>
          <a:ln w="12700">
            <a:solidFill>
              <a:srgbClr val="1A3A6A"/>
            </a:solidFill>
            <a:prstDash val="solid"/>
          </a:ln>
        </p:spPr>
      </p:sp>
      <p:sp>
        <p:nvSpPr>
          <p:cNvPr id="26" name="Text 24"/>
          <p:cNvSpPr/>
          <p:nvPr/>
        </p:nvSpPr>
        <p:spPr>
          <a:xfrm>
            <a:off x="4892040" y="1051560"/>
            <a:ext cx="3749040" cy="27432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How My Thinking Changed</a:t>
            </a:r>
            <a:endParaRPr lang="en-US" sz="1300" dirty="0"/>
          </a:p>
        </p:txBody>
      </p:sp>
      <p:sp>
        <p:nvSpPr>
          <p:cNvPr id="27" name="Text 25"/>
          <p:cNvSpPr/>
          <p:nvPr/>
        </p:nvSpPr>
        <p:spPr>
          <a:xfrm>
            <a:off x="4892040" y="1417320"/>
            <a:ext cx="685800" cy="201168"/>
          </a:xfrm>
          <a:prstGeom prst="rect">
            <a:avLst/>
          </a:prstGeom>
          <a:noFill/>
          <a:ln/>
        </p:spPr>
        <p:txBody>
          <a:bodyPr wrap="square" lIns="0" tIns="0" rIns="0" bIns="0" rtlCol="0" anchor="ctr"/>
          <a:lstStyle/>
          <a:p>
            <a:pPr indent="0" marL="0">
              <a:buNone/>
            </a:pPr>
            <a:r>
              <a:rPr lang="en-US" sz="850" b="1" dirty="0">
                <a:solidFill>
                  <a:srgbClr val="7A9FBB"/>
                </a:solidFill>
                <a:latin typeface="Calibri" pitchFamily="34" charset="0"/>
                <a:ea typeface="Calibri" pitchFamily="34" charset="-122"/>
                <a:cs typeface="Calibri" pitchFamily="34" charset="-120"/>
              </a:rPr>
              <a:t>Before: </a:t>
            </a:r>
            <a:endParaRPr lang="en-US" sz="850" dirty="0"/>
          </a:p>
        </p:txBody>
      </p:sp>
      <p:sp>
        <p:nvSpPr>
          <p:cNvPr id="28" name="Text 26"/>
          <p:cNvSpPr/>
          <p:nvPr/>
        </p:nvSpPr>
        <p:spPr>
          <a:xfrm>
            <a:off x="5559552" y="1417320"/>
            <a:ext cx="3108960" cy="201168"/>
          </a:xfrm>
          <a:prstGeom prst="rect">
            <a:avLst/>
          </a:prstGeom>
          <a:noFill/>
          <a:ln/>
        </p:spPr>
        <p:txBody>
          <a:bodyPr wrap="square" lIns="0" tIns="0" rIns="0" bIns="0" rtlCol="0" anchor="ctr"/>
          <a:lstStyle/>
          <a:p>
            <a:pPr indent="0" marL="0">
              <a:buNone/>
            </a:pPr>
            <a:r>
              <a:rPr lang="en-US" sz="850" i="1" dirty="0">
                <a:solidFill>
                  <a:srgbClr val="7A9FBB"/>
                </a:solidFill>
                <a:latin typeface="Calibri" pitchFamily="34" charset="0"/>
                <a:ea typeface="Calibri" pitchFamily="34" charset="-122"/>
                <a:cs typeface="Calibri" pitchFamily="34" charset="-120"/>
              </a:rPr>
              <a:t>Clean data = ready to analyze</a:t>
            </a:r>
            <a:endParaRPr lang="en-US" sz="850" dirty="0"/>
          </a:p>
        </p:txBody>
      </p:sp>
      <p:sp>
        <p:nvSpPr>
          <p:cNvPr id="29" name="Text 27"/>
          <p:cNvSpPr/>
          <p:nvPr/>
        </p:nvSpPr>
        <p:spPr>
          <a:xfrm>
            <a:off x="4892040" y="1655064"/>
            <a:ext cx="685800" cy="201168"/>
          </a:xfrm>
          <a:prstGeom prst="rect">
            <a:avLst/>
          </a:prstGeom>
          <a:noFill/>
          <a:ln/>
        </p:spPr>
        <p:txBody>
          <a:bodyPr wrap="square" lIns="0" tIns="0" rIns="0" bIns="0"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After:  </a:t>
            </a:r>
            <a:endParaRPr lang="en-US" sz="850" dirty="0"/>
          </a:p>
        </p:txBody>
      </p:sp>
      <p:sp>
        <p:nvSpPr>
          <p:cNvPr id="30" name="Text 28"/>
          <p:cNvSpPr/>
          <p:nvPr/>
        </p:nvSpPr>
        <p:spPr>
          <a:xfrm>
            <a:off x="5559552" y="1655064"/>
            <a:ext cx="3108960" cy="20116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Clean data = a series of documented decisions</a:t>
            </a:r>
            <a:endParaRPr lang="en-US" sz="850" dirty="0"/>
          </a:p>
        </p:txBody>
      </p:sp>
      <p:sp>
        <p:nvSpPr>
          <p:cNvPr id="31" name="Shape 29"/>
          <p:cNvSpPr/>
          <p:nvPr/>
        </p:nvSpPr>
        <p:spPr>
          <a:xfrm>
            <a:off x="4892040" y="1892808"/>
            <a:ext cx="3749040" cy="9144"/>
          </a:xfrm>
          <a:prstGeom prst="rect">
            <a:avLst/>
          </a:prstGeom>
          <a:solidFill>
            <a:srgbClr val="1A3A6A"/>
          </a:solidFill>
          <a:ln w="12700">
            <a:solidFill>
              <a:srgbClr val="1A3A6A"/>
            </a:solidFill>
            <a:prstDash val="solid"/>
          </a:ln>
        </p:spPr>
      </p:sp>
      <p:sp>
        <p:nvSpPr>
          <p:cNvPr id="32" name="Text 30"/>
          <p:cNvSpPr/>
          <p:nvPr/>
        </p:nvSpPr>
        <p:spPr>
          <a:xfrm>
            <a:off x="4892040" y="1984248"/>
            <a:ext cx="685800" cy="201168"/>
          </a:xfrm>
          <a:prstGeom prst="rect">
            <a:avLst/>
          </a:prstGeom>
          <a:noFill/>
          <a:ln/>
        </p:spPr>
        <p:txBody>
          <a:bodyPr wrap="square" lIns="0" tIns="0" rIns="0" bIns="0" rtlCol="0" anchor="ctr"/>
          <a:lstStyle/>
          <a:p>
            <a:pPr indent="0" marL="0">
              <a:buNone/>
            </a:pPr>
            <a:r>
              <a:rPr lang="en-US" sz="850" b="1" dirty="0">
                <a:solidFill>
                  <a:srgbClr val="7A9FBB"/>
                </a:solidFill>
                <a:latin typeface="Calibri" pitchFamily="34" charset="0"/>
                <a:ea typeface="Calibri" pitchFamily="34" charset="-122"/>
                <a:cs typeface="Calibri" pitchFamily="34" charset="-120"/>
              </a:rPr>
              <a:t>Before: </a:t>
            </a:r>
            <a:endParaRPr lang="en-US" sz="850" dirty="0"/>
          </a:p>
        </p:txBody>
      </p:sp>
      <p:sp>
        <p:nvSpPr>
          <p:cNvPr id="33" name="Text 31"/>
          <p:cNvSpPr/>
          <p:nvPr/>
        </p:nvSpPr>
        <p:spPr>
          <a:xfrm>
            <a:off x="5559552" y="1984248"/>
            <a:ext cx="3108960" cy="201168"/>
          </a:xfrm>
          <a:prstGeom prst="rect">
            <a:avLst/>
          </a:prstGeom>
          <a:noFill/>
          <a:ln/>
        </p:spPr>
        <p:txBody>
          <a:bodyPr wrap="square" lIns="0" tIns="0" rIns="0" bIns="0" rtlCol="0" anchor="ctr"/>
          <a:lstStyle/>
          <a:p>
            <a:pPr indent="0" marL="0">
              <a:buNone/>
            </a:pPr>
            <a:r>
              <a:rPr lang="en-US" sz="850" i="1" dirty="0">
                <a:solidFill>
                  <a:srgbClr val="7A9FBB"/>
                </a:solidFill>
                <a:latin typeface="Calibri" pitchFamily="34" charset="0"/>
                <a:ea typeface="Calibri" pitchFamily="34" charset="-122"/>
                <a:cs typeface="Calibri" pitchFamily="34" charset="-120"/>
              </a:rPr>
              <a:t>Duplicates are always errors</a:t>
            </a:r>
            <a:endParaRPr lang="en-US" sz="850" dirty="0"/>
          </a:p>
        </p:txBody>
      </p:sp>
      <p:sp>
        <p:nvSpPr>
          <p:cNvPr id="34" name="Text 32"/>
          <p:cNvSpPr/>
          <p:nvPr/>
        </p:nvSpPr>
        <p:spPr>
          <a:xfrm>
            <a:off x="4892040" y="2221992"/>
            <a:ext cx="685800" cy="201168"/>
          </a:xfrm>
          <a:prstGeom prst="rect">
            <a:avLst/>
          </a:prstGeom>
          <a:noFill/>
          <a:ln/>
        </p:spPr>
        <p:txBody>
          <a:bodyPr wrap="square" lIns="0" tIns="0" rIns="0" bIns="0"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After:  </a:t>
            </a:r>
            <a:endParaRPr lang="en-US" sz="850" dirty="0"/>
          </a:p>
        </p:txBody>
      </p:sp>
      <p:sp>
        <p:nvSpPr>
          <p:cNvPr id="35" name="Text 33"/>
          <p:cNvSpPr/>
          <p:nvPr/>
        </p:nvSpPr>
        <p:spPr>
          <a:xfrm>
            <a:off x="5559552" y="2221992"/>
            <a:ext cx="3108960" cy="20116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Duplicates can be real business behavior</a:t>
            </a:r>
            <a:endParaRPr lang="en-US" sz="850" dirty="0"/>
          </a:p>
        </p:txBody>
      </p:sp>
      <p:sp>
        <p:nvSpPr>
          <p:cNvPr id="36" name="Shape 34"/>
          <p:cNvSpPr/>
          <p:nvPr/>
        </p:nvSpPr>
        <p:spPr>
          <a:xfrm>
            <a:off x="4892040" y="2459736"/>
            <a:ext cx="3749040" cy="9144"/>
          </a:xfrm>
          <a:prstGeom prst="rect">
            <a:avLst/>
          </a:prstGeom>
          <a:solidFill>
            <a:srgbClr val="1A3A6A"/>
          </a:solidFill>
          <a:ln w="12700">
            <a:solidFill>
              <a:srgbClr val="1A3A6A"/>
            </a:solidFill>
            <a:prstDash val="solid"/>
          </a:ln>
        </p:spPr>
      </p:sp>
      <p:sp>
        <p:nvSpPr>
          <p:cNvPr id="37" name="Text 35"/>
          <p:cNvSpPr/>
          <p:nvPr/>
        </p:nvSpPr>
        <p:spPr>
          <a:xfrm>
            <a:off x="4892040" y="2551176"/>
            <a:ext cx="685800" cy="201168"/>
          </a:xfrm>
          <a:prstGeom prst="rect">
            <a:avLst/>
          </a:prstGeom>
          <a:noFill/>
          <a:ln/>
        </p:spPr>
        <p:txBody>
          <a:bodyPr wrap="square" lIns="0" tIns="0" rIns="0" bIns="0" rtlCol="0" anchor="ctr"/>
          <a:lstStyle/>
          <a:p>
            <a:pPr indent="0" marL="0">
              <a:buNone/>
            </a:pPr>
            <a:r>
              <a:rPr lang="en-US" sz="850" b="1" dirty="0">
                <a:solidFill>
                  <a:srgbClr val="7A9FBB"/>
                </a:solidFill>
                <a:latin typeface="Calibri" pitchFamily="34" charset="0"/>
                <a:ea typeface="Calibri" pitchFamily="34" charset="-122"/>
                <a:cs typeface="Calibri" pitchFamily="34" charset="-120"/>
              </a:rPr>
              <a:t>Before: </a:t>
            </a:r>
            <a:endParaRPr lang="en-US" sz="850" dirty="0"/>
          </a:p>
        </p:txBody>
      </p:sp>
      <p:sp>
        <p:nvSpPr>
          <p:cNvPr id="38" name="Text 36"/>
          <p:cNvSpPr/>
          <p:nvPr/>
        </p:nvSpPr>
        <p:spPr>
          <a:xfrm>
            <a:off x="5559552" y="2551176"/>
            <a:ext cx="3108960" cy="201168"/>
          </a:xfrm>
          <a:prstGeom prst="rect">
            <a:avLst/>
          </a:prstGeom>
          <a:noFill/>
          <a:ln/>
        </p:spPr>
        <p:txBody>
          <a:bodyPr wrap="square" lIns="0" tIns="0" rIns="0" bIns="0" rtlCol="0" anchor="ctr"/>
          <a:lstStyle/>
          <a:p>
            <a:pPr indent="0" marL="0">
              <a:buNone/>
            </a:pPr>
            <a:r>
              <a:rPr lang="en-US" sz="850" i="1" dirty="0">
                <a:solidFill>
                  <a:srgbClr val="7A9FBB"/>
                </a:solidFill>
                <a:latin typeface="Calibri" pitchFamily="34" charset="0"/>
                <a:ea typeface="Calibri" pitchFamily="34" charset="-122"/>
                <a:cs typeface="Calibri" pitchFamily="34" charset="-120"/>
              </a:rPr>
              <a:t>More data = better answers</a:t>
            </a:r>
            <a:endParaRPr lang="en-US" sz="850" dirty="0"/>
          </a:p>
        </p:txBody>
      </p:sp>
      <p:sp>
        <p:nvSpPr>
          <p:cNvPr id="39" name="Text 37"/>
          <p:cNvSpPr/>
          <p:nvPr/>
        </p:nvSpPr>
        <p:spPr>
          <a:xfrm>
            <a:off x="4892040" y="2788920"/>
            <a:ext cx="685800" cy="201168"/>
          </a:xfrm>
          <a:prstGeom prst="rect">
            <a:avLst/>
          </a:prstGeom>
          <a:noFill/>
          <a:ln/>
        </p:spPr>
        <p:txBody>
          <a:bodyPr wrap="square" lIns="0" tIns="0" rIns="0" bIns="0"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After:  </a:t>
            </a:r>
            <a:endParaRPr lang="en-US" sz="850" dirty="0"/>
          </a:p>
        </p:txBody>
      </p:sp>
      <p:sp>
        <p:nvSpPr>
          <p:cNvPr id="40" name="Text 38"/>
          <p:cNvSpPr/>
          <p:nvPr/>
        </p:nvSpPr>
        <p:spPr>
          <a:xfrm>
            <a:off x="5559552" y="2788920"/>
            <a:ext cx="3108960" cy="20116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The right question matters more than data size</a:t>
            </a:r>
            <a:endParaRPr lang="en-US" sz="850" dirty="0"/>
          </a:p>
        </p:txBody>
      </p:sp>
      <p:sp>
        <p:nvSpPr>
          <p:cNvPr id="41" name="Shape 39"/>
          <p:cNvSpPr/>
          <p:nvPr/>
        </p:nvSpPr>
        <p:spPr>
          <a:xfrm>
            <a:off x="4892040" y="3026664"/>
            <a:ext cx="3749040" cy="9144"/>
          </a:xfrm>
          <a:prstGeom prst="rect">
            <a:avLst/>
          </a:prstGeom>
          <a:solidFill>
            <a:srgbClr val="1A3A6A"/>
          </a:solidFill>
          <a:ln w="12700">
            <a:solidFill>
              <a:srgbClr val="1A3A6A"/>
            </a:solidFill>
            <a:prstDash val="solid"/>
          </a:ln>
        </p:spPr>
      </p:sp>
      <p:sp>
        <p:nvSpPr>
          <p:cNvPr id="42" name="Text 40"/>
          <p:cNvSpPr/>
          <p:nvPr/>
        </p:nvSpPr>
        <p:spPr>
          <a:xfrm>
            <a:off x="4892040" y="3118104"/>
            <a:ext cx="685800" cy="201168"/>
          </a:xfrm>
          <a:prstGeom prst="rect">
            <a:avLst/>
          </a:prstGeom>
          <a:noFill/>
          <a:ln/>
        </p:spPr>
        <p:txBody>
          <a:bodyPr wrap="square" lIns="0" tIns="0" rIns="0" bIns="0" rtlCol="0" anchor="ctr"/>
          <a:lstStyle/>
          <a:p>
            <a:pPr indent="0" marL="0">
              <a:buNone/>
            </a:pPr>
            <a:r>
              <a:rPr lang="en-US" sz="850" b="1" dirty="0">
                <a:solidFill>
                  <a:srgbClr val="7A9FBB"/>
                </a:solidFill>
                <a:latin typeface="Calibri" pitchFamily="34" charset="0"/>
                <a:ea typeface="Calibri" pitchFamily="34" charset="-122"/>
                <a:cs typeface="Calibri" pitchFamily="34" charset="-120"/>
              </a:rPr>
              <a:t>Before: </a:t>
            </a:r>
            <a:endParaRPr lang="en-US" sz="850" dirty="0"/>
          </a:p>
        </p:txBody>
      </p:sp>
      <p:sp>
        <p:nvSpPr>
          <p:cNvPr id="43" name="Text 41"/>
          <p:cNvSpPr/>
          <p:nvPr/>
        </p:nvSpPr>
        <p:spPr>
          <a:xfrm>
            <a:off x="5559552" y="3118104"/>
            <a:ext cx="3108960" cy="201168"/>
          </a:xfrm>
          <a:prstGeom prst="rect">
            <a:avLst/>
          </a:prstGeom>
          <a:noFill/>
          <a:ln/>
        </p:spPr>
        <p:txBody>
          <a:bodyPr wrap="square" lIns="0" tIns="0" rIns="0" bIns="0" rtlCol="0" anchor="ctr"/>
          <a:lstStyle/>
          <a:p>
            <a:pPr indent="0" marL="0">
              <a:buNone/>
            </a:pPr>
            <a:r>
              <a:rPr lang="en-US" sz="850" i="1" dirty="0">
                <a:solidFill>
                  <a:srgbClr val="7A9FBB"/>
                </a:solidFill>
                <a:latin typeface="Calibri" pitchFamily="34" charset="0"/>
                <a:ea typeface="Calibri" pitchFamily="34" charset="-122"/>
                <a:cs typeface="Calibri" pitchFamily="34" charset="-120"/>
              </a:rPr>
              <a:t>Analysis ends at the numbers</a:t>
            </a:r>
            <a:endParaRPr lang="en-US" sz="850" dirty="0"/>
          </a:p>
        </p:txBody>
      </p:sp>
      <p:sp>
        <p:nvSpPr>
          <p:cNvPr id="44" name="Text 42"/>
          <p:cNvSpPr/>
          <p:nvPr/>
        </p:nvSpPr>
        <p:spPr>
          <a:xfrm>
            <a:off x="4892040" y="3355848"/>
            <a:ext cx="685800" cy="201168"/>
          </a:xfrm>
          <a:prstGeom prst="rect">
            <a:avLst/>
          </a:prstGeom>
          <a:noFill/>
          <a:ln/>
        </p:spPr>
        <p:txBody>
          <a:bodyPr wrap="square" lIns="0" tIns="0" rIns="0" bIns="0"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After:  </a:t>
            </a:r>
            <a:endParaRPr lang="en-US" sz="850" dirty="0"/>
          </a:p>
        </p:txBody>
      </p:sp>
      <p:sp>
        <p:nvSpPr>
          <p:cNvPr id="45" name="Text 43"/>
          <p:cNvSpPr/>
          <p:nvPr/>
        </p:nvSpPr>
        <p:spPr>
          <a:xfrm>
            <a:off x="5559552" y="3355848"/>
            <a:ext cx="3108960" cy="20116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Analysis ends at the recommendation</a:t>
            </a:r>
            <a:endParaRPr lang="en-US" sz="850" dirty="0"/>
          </a:p>
        </p:txBody>
      </p:sp>
      <p:sp>
        <p:nvSpPr>
          <p:cNvPr id="46" name="Shape 44"/>
          <p:cNvSpPr/>
          <p:nvPr/>
        </p:nvSpPr>
        <p:spPr>
          <a:xfrm>
            <a:off x="365760" y="3749040"/>
            <a:ext cx="8412480" cy="1005840"/>
          </a:xfrm>
          <a:prstGeom prst="rect">
            <a:avLst/>
          </a:prstGeom>
          <a:solidFill>
            <a:srgbClr val="0E7C86"/>
          </a:solidFill>
          <a:ln w="12700">
            <a:solidFill>
              <a:srgbClr val="0E7C86"/>
            </a:solidFill>
            <a:prstDash val="solid"/>
          </a:ln>
        </p:spPr>
      </p:sp>
      <p:sp>
        <p:nvSpPr>
          <p:cNvPr id="47" name="Text 45"/>
          <p:cNvSpPr/>
          <p:nvPr/>
        </p:nvSpPr>
        <p:spPr>
          <a:xfrm>
            <a:off x="548640" y="3794760"/>
            <a:ext cx="7315200" cy="640080"/>
          </a:xfrm>
          <a:prstGeom prst="rect">
            <a:avLst/>
          </a:prstGeom>
          <a:no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“The goal of data analysis isn’t to describe what happened.</a:t>
            </a:r>
            <a:endParaRPr lang="en-US" sz="1300" dirty="0"/>
          </a:p>
          <a:p>
            <a:pPr algn="l" indent="0" marL="0">
              <a:buNone/>
            </a:pPr>
            <a:r>
              <a:rPr lang="en-US" sz="1300" b="1" dirty="0">
                <a:solidFill>
                  <a:srgbClr val="FFFFFF"/>
                </a:solidFill>
                <a:latin typeface="Calibri" pitchFamily="34" charset="0"/>
                <a:ea typeface="Calibri" pitchFamily="34" charset="-122"/>
                <a:cs typeface="Calibri" pitchFamily="34" charset="-120"/>
              </a:rPr>
              <a:t>It’s to give someone the confidence to act.”</a:t>
            </a:r>
            <a:endParaRPr lang="en-US" sz="1300" dirty="0"/>
          </a:p>
        </p:txBody>
      </p:sp>
      <p:sp>
        <p:nvSpPr>
          <p:cNvPr id="48" name="Text 46"/>
          <p:cNvSpPr/>
          <p:nvPr/>
        </p:nvSpPr>
        <p:spPr>
          <a:xfrm>
            <a:off x="548640" y="4462272"/>
            <a:ext cx="8229600" cy="201168"/>
          </a:xfrm>
          <a:prstGeom prst="rect">
            <a:avLst/>
          </a:prstGeom>
          <a:noFill/>
          <a:ln/>
        </p:spPr>
        <p:txBody>
          <a:bodyPr wrap="square" rtlCol="0" anchor="ctr"/>
          <a:lstStyle/>
          <a:p>
            <a:pPr algn="l" indent="0" marL="0">
              <a:buNone/>
            </a:pPr>
            <a:r>
              <a:rPr lang="en-US" sz="900" dirty="0">
                <a:solidFill>
                  <a:srgbClr val="B0D8E0"/>
                </a:solidFill>
                <a:latin typeface="Calibri" pitchFamily="34" charset="0"/>
                <a:ea typeface="Calibri" pitchFamily="34" charset="-122"/>
                <a:cs typeface="Calibri" pitchFamily="34" charset="-120"/>
              </a:rPr>
              <a:t>Thuy Nguyen  ·  thanhthuy28052001@gmail.com  ·  github.com/thanhthuy280501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Retail CLV &amp; Segmentation Analysis</dc:title>
  <dc:subject>PptxGenJS Presentation</dc:subject>
  <dc:creator>PptxGenJS</dc:creator>
  <cp:lastModifiedBy>PptxGenJS</cp:lastModifiedBy>
  <cp:revision>1</cp:revision>
  <dcterms:created xsi:type="dcterms:W3CDTF">2026-03-31T01:03:19Z</dcterms:created>
  <dcterms:modified xsi:type="dcterms:W3CDTF">2026-03-31T01:03:19Z</dcterms:modified>
</cp:coreProperties>
</file>